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notesSlide+xml" PartName="/ppt/notesSlides/notesSlide3.xml"/>
  <Override ContentType="application/vnd.openxmlformats-officedocument.presentationml.notesSlide+xml" PartName="/ppt/notesSlides/notesSlide4.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slide+xml" PartName="/ppt/slides/slide23.xml"/>
  <Override ContentType="application/vnd.openxmlformats-officedocument.presentationml.slide+xml" PartName="/ppt/slides/slide24.xml"/>
  <Override ContentType="application/vnd.openxmlformats-officedocument.presentationml.slide+xml" PartName="/ppt/slides/slide25.xml"/>
  <Override ContentType="application/vnd.openxmlformats-officedocument.presentationml.slide+xml" PartName="/ppt/slides/slide26.xml"/>
  <Override ContentType="application/vnd.openxmlformats-officedocument.presentationml.slide+xml" PartName="/ppt/slides/slide27.xml"/>
  <Override ContentType="application/vnd.openxmlformats-officedocument.presentationml.slide+xml" PartName="/ppt/slides/slide28.xml"/>
  <Override ContentType="application/vnd.openxmlformats-officedocument.presentationml.slide+xml" PartName="/ppt/slides/slide29.xml"/>
  <Override ContentType="application/vnd.openxmlformats-officedocument.presentationml.slide+xml" PartName="/ppt/slides/slide30.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notesMasterIdLst>
    <p:notesMasterId r:id="rId40"/>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Lst>
  <p:sldSz cx="18288000" cy="10287000"/>
  <p:notesSz cx="6858000" cy="9144000"/>
  <p:embeddedFontLst>
    <p:embeddedFont>
      <p:font typeface="DM Serif Display" charset="1" panose="00000000000000000000"/>
      <p:regular r:id="rId36"/>
    </p:embeddedFont>
    <p:embeddedFont>
      <p:font typeface="Canva Sans Bold" charset="1" panose="020B0803030501040103"/>
      <p:regular r:id="rId37"/>
    </p:embeddedFont>
    <p:embeddedFont>
      <p:font typeface="Times New Roman Bold" charset="1" panose="02020803070505020304"/>
      <p:regular r:id="rId38"/>
    </p:embeddedFont>
    <p:embeddedFont>
      <p:font typeface="Times New Roman" charset="1" panose="02020603050405020304"/>
      <p:regular r:id="rId39"/>
    </p:embeddedFont>
    <p:embeddedFont>
      <p:font typeface="Canva Sans" charset="1" panose="020B0503030501040103"/>
      <p:regular r:id="rId43"/>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slides/slide21.xml" Type="http://schemas.openxmlformats.org/officeDocument/2006/relationships/slide"/><Relationship Id="rId27" Target="slides/slide22.xml" Type="http://schemas.openxmlformats.org/officeDocument/2006/relationships/slide"/><Relationship Id="rId28" Target="slides/slide23.xml" Type="http://schemas.openxmlformats.org/officeDocument/2006/relationships/slide"/><Relationship Id="rId29" Target="slides/slide24.xml" Type="http://schemas.openxmlformats.org/officeDocument/2006/relationships/slide"/><Relationship Id="rId3" Target="viewProps.xml" Type="http://schemas.openxmlformats.org/officeDocument/2006/relationships/viewProps"/><Relationship Id="rId30" Target="slides/slide25.xml" Type="http://schemas.openxmlformats.org/officeDocument/2006/relationships/slide"/><Relationship Id="rId31" Target="slides/slide26.xml" Type="http://schemas.openxmlformats.org/officeDocument/2006/relationships/slide"/><Relationship Id="rId32" Target="slides/slide27.xml" Type="http://schemas.openxmlformats.org/officeDocument/2006/relationships/slide"/><Relationship Id="rId33" Target="slides/slide28.xml" Type="http://schemas.openxmlformats.org/officeDocument/2006/relationships/slide"/><Relationship Id="rId34" Target="slides/slide29.xml" Type="http://schemas.openxmlformats.org/officeDocument/2006/relationships/slide"/><Relationship Id="rId35" Target="slides/slide30.xml" Type="http://schemas.openxmlformats.org/officeDocument/2006/relationships/slide"/><Relationship Id="rId36" Target="fonts/font36.fntdata" Type="http://schemas.openxmlformats.org/officeDocument/2006/relationships/font"/><Relationship Id="rId37" Target="fonts/font37.fntdata" Type="http://schemas.openxmlformats.org/officeDocument/2006/relationships/font"/><Relationship Id="rId38" Target="fonts/font38.fntdata" Type="http://schemas.openxmlformats.org/officeDocument/2006/relationships/font"/><Relationship Id="rId39" Target="fonts/font39.fntdata" Type="http://schemas.openxmlformats.org/officeDocument/2006/relationships/font"/><Relationship Id="rId4" Target="theme/theme1.xml" Type="http://schemas.openxmlformats.org/officeDocument/2006/relationships/theme"/><Relationship Id="rId40" Target="notesMasters/notesMaster1.xml" Type="http://schemas.openxmlformats.org/officeDocument/2006/relationships/notesMaster"/><Relationship Id="rId41" Target="theme/theme2.xml" Type="http://schemas.openxmlformats.org/officeDocument/2006/relationships/theme"/><Relationship Id="rId42" Target="notesSlides/notesSlide1.xml" Type="http://schemas.openxmlformats.org/officeDocument/2006/relationships/notesSlide"/><Relationship Id="rId43" Target="fonts/font43.fntdata" Type="http://schemas.openxmlformats.org/officeDocument/2006/relationships/font"/><Relationship Id="rId44" Target="notesSlides/notesSlide2.xml" Type="http://schemas.openxmlformats.org/officeDocument/2006/relationships/notesSlide"/><Relationship Id="rId45" Target="notesSlides/notesSlide3.xml" Type="http://schemas.openxmlformats.org/officeDocument/2006/relationships/notesSlide"/><Relationship Id="rId46" Target="notesSlides/notesSlide4.xml" Type="http://schemas.openxmlformats.org/officeDocument/2006/relationships/notesSlid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6.xml" Type="http://schemas.openxmlformats.org/officeDocument/2006/relationships/slide"/></Relationships>
</file>

<file path=ppt/notesSlides/_rels/notesSlide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7.xml" Type="http://schemas.openxmlformats.org/officeDocument/2006/relationships/slide"/></Relationships>
</file>

<file path=ppt/notesSlides/_rels/notesSlide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8.xml" Type="http://schemas.openxmlformats.org/officeDocument/2006/relationships/slide"/></Relationships>
</file>

<file path=ppt/notesSlides/_rels/notesSlide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9.xml" Type="http://schemas.openxmlformats.org/officeDocument/2006/relationships/slide"/></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mT5 works differently from BERT because it uses an encoder–decoder architecture.</a:t>
            </a:r>
          </a:p>
          <a:p>
            <a:r>
              <a:rPr lang="en-US"/>
              <a:t>BERT only encodes the text, but mT5 both encodes the input and decodes a new output, which makes it suitable for generation-style tasks.</a:t>
            </a:r>
          </a:p>
          <a:p>
            <a:r>
              <a:rPr lang="en-US"/>
              <a:t/>
            </a:r>
          </a:p>
          <a:p>
            <a:r>
              <a:rPr lang="en-US"/>
              <a:t>Instead of treating polarization detection as a normal classification task, we reframed it as a text-to-text problem:</a:t>
            </a:r>
          </a:p>
          <a:p>
            <a:r>
              <a:rPr lang="en-US"/>
              <a:t/>
            </a:r>
          </a:p>
          <a:p>
            <a:r>
              <a:rPr lang="en-US"/>
              <a:t>Input: the social media post</a:t>
            </a:r>
          </a:p>
          <a:p>
            <a:r>
              <a:rPr lang="en-US"/>
              <a:t/>
            </a:r>
          </a:p>
          <a:p>
            <a:r>
              <a:rPr lang="en-US"/>
              <a:t>Output: a generated label → "0" (not polarized) or "1" (polarized)</a:t>
            </a:r>
          </a:p>
          <a:p>
            <a:r>
              <a:rPr lang="en-US"/>
              <a:t/>
            </a:r>
          </a:p>
          <a:p>
            <a:r>
              <a:rPr lang="en-US"/>
              <a:t>This fits naturally with T5, because T5 is designed to generate text.</a:t>
            </a:r>
          </a:p>
          <a:p>
            <a:r>
              <a:rPr lang="en-US"/>
              <a:t/>
            </a:r>
          </a:p>
          <a:p>
            <a:r>
              <a:rPr lang="en-US"/>
              <a:t>mT5 also handles multilingual text better because it uses SentencePiece, a unified subword vocabulary that works across many languages and scripts. This helps when the dataset includes languages like Amharic, Hindi, Chinese, etc.</a:t>
            </a:r>
          </a:p>
          <a:p>
            <a:r>
              <a:rPr lang="en-US"/>
              <a:t/>
            </a:r>
          </a:p>
          <a:p>
            <a:r>
              <a:rPr lang="en-US"/>
              <a:t/>
            </a:r>
          </a:p>
          <a:p>
            <a:r>
              <a:rPr lang="en-US"/>
              <a:t>Finally, the model was trained on all languages together, allowing high-resource languages to help low-resource ones. This shared learning improves generalization across the multilingual dataset while keeping the training pipeline similar to the baseline.</a:t>
            </a:r>
          </a:p>
          <a:p>
            <a:r>
              <a:rPr lang="en-US"/>
              <a:t/>
            </a:r>
          </a:p>
          <a:p>
            <a:r>
              <a:rPr lang="en-US"/>
              <a:t/>
            </a:r>
          </a:p>
          <a:p>
            <a:r>
              <a:rPr lang="en-US"/>
              <a:t>Low-resource languages</a:t>
            </a:r>
          </a:p>
          <a:p>
            <a:r>
              <a:rPr lang="en-US"/>
              <a:t>These languages have very little training data or the data is noisy, inconsistent, or full of dialect variations.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This table shows how well the mT5 model learned each language during training.</a:t>
            </a:r>
          </a:p>
          <a:p>
            <a:r>
              <a:rPr lang="en-US"/>
              <a:t>Languages with more training data and clearer writing patterns achieve higher accuracy — such as:</a:t>
            </a:r>
          </a:p>
          <a:p>
            <a:r>
              <a:rPr lang="en-US"/>
              <a:t/>
            </a:r>
          </a:p>
          <a:p>
            <a:r>
              <a:rPr lang="en-US"/>
              <a:t>Hausa (0.8933)</a:t>
            </a:r>
          </a:p>
          <a:p>
            <a:r>
              <a:rPr lang="en-US"/>
              <a:t/>
            </a:r>
          </a:p>
          <a:p>
            <a:r>
              <a:rPr lang="en-US"/>
              <a:t>Hindi (0.8743)</a:t>
            </a:r>
          </a:p>
          <a:p>
            <a:r>
              <a:rPr lang="en-US"/>
              <a:t/>
            </a:r>
          </a:p>
          <a:p>
            <a:r>
              <a:rPr lang="en-US"/>
              <a:t>Farsi (0.8103)</a:t>
            </a:r>
          </a:p>
          <a:p>
            <a:r>
              <a:rPr lang="en-US"/>
              <a:t/>
            </a:r>
          </a:p>
          <a:p>
            <a:r>
              <a:rPr lang="en-US"/>
              <a:t>Chinese (0.7617)</a:t>
            </a:r>
          </a:p>
          <a:p>
            <a:r>
              <a:rPr lang="en-US"/>
              <a:t/>
            </a:r>
          </a:p>
          <a:p>
            <a:r>
              <a:rPr lang="en-US"/>
              <a:t>These are considered high-resource languages, so the model can understand their structure better.</a:t>
            </a:r>
          </a:p>
          <a:p>
            <a:r>
              <a:rPr lang="en-US"/>
              <a:t/>
            </a:r>
          </a:p>
          <a:p>
            <a:r>
              <a:rPr lang="en-US"/>
              <a:t>Languages with less data, more noise, or strong dialect variations show lower accuracy — such as:</a:t>
            </a:r>
          </a:p>
          <a:p>
            <a:r>
              <a:rPr lang="en-US"/>
              <a:t/>
            </a:r>
          </a:p>
          <a:p>
            <a:r>
              <a:rPr lang="en-US"/>
              <a:t>Arabic (0.5533)</a:t>
            </a:r>
          </a:p>
          <a:p>
            <a:r>
              <a:rPr lang="en-US"/>
              <a:t/>
            </a:r>
          </a:p>
          <a:p>
            <a:r>
              <a:rPr lang="en-US"/>
              <a:t>German (0.5252)</a:t>
            </a:r>
          </a:p>
          <a:p>
            <a:r>
              <a:rPr lang="en-US"/>
              <a:t/>
            </a:r>
          </a:p>
          <a:p>
            <a:r>
              <a:rPr lang="en-US"/>
              <a:t>Spanish (0.5159)</a:t>
            </a:r>
          </a:p>
          <a:p>
            <a:r>
              <a:rPr lang="en-US"/>
              <a:t/>
            </a:r>
          </a:p>
          <a:p>
            <a:r>
              <a:rPr lang="en-US"/>
              <a:t>Turkish (0.5137)</a:t>
            </a:r>
          </a:p>
          <a:p>
            <a:r>
              <a:rPr lang="en-US"/>
              <a:t/>
            </a:r>
          </a:p>
          <a:p>
            <a:r>
              <a:rPr lang="en-US"/>
              <a:t>These are low-resource languages, making it harder for the model to learn consistent patterns for polarization detection.</a:t>
            </a:r>
          </a:p>
          <a:p>
            <a:r>
              <a:rPr lang="en-US"/>
              <a:t/>
            </a:r>
          </a:p>
          <a:p>
            <a:r>
              <a:rPr lang="en-US"/>
              <a:t>Overall, the training accuracy reflects how much the model was able to learn from the available examples in each language, and it highlights the difference between high-resource and low-resource languages in the dataset.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These results show how well the mT5 model performs on unseen data from the development set.</a:t>
            </a:r>
          </a:p>
          <a:p>
            <a:r>
              <a:rPr lang="en-US"/>
              <a:t>Performance varies by language:</a:t>
            </a:r>
          </a:p>
          <a:p>
            <a:r>
              <a:rPr lang="en-US"/>
              <a:t/>
            </a:r>
          </a:p>
          <a:p>
            <a:r>
              <a:rPr lang="en-US"/>
              <a:t>Strong Performance (High F1 Scores)</a:t>
            </a:r>
          </a:p>
          <a:p>
            <a:r>
              <a:rPr lang="en-US"/>
              <a:t/>
            </a:r>
          </a:p>
          <a:p>
            <a:r>
              <a:rPr lang="en-US"/>
              <a:t>Languages like Persian (0.8072), Hindi (0.8207), and Chinese (0.8077) show high F1 values.</a:t>
            </a:r>
          </a:p>
          <a:p>
            <a:r>
              <a:rPr lang="en-US"/>
              <a:t>This means the model generalizes well and correctly identifies both polarized and non-polarized posts.</a:t>
            </a:r>
          </a:p>
          <a:p>
            <a:r>
              <a:rPr lang="en-US"/>
              <a:t>These are typically high-resource languages with cleaner, more consistent training data.</a:t>
            </a:r>
          </a:p>
          <a:p>
            <a:r>
              <a:rPr lang="en-US"/>
              <a:t/>
            </a:r>
          </a:p>
          <a:p>
            <a:r>
              <a:rPr lang="en-US"/>
              <a:t> Moderate Performance</a:t>
            </a:r>
          </a:p>
          <a:p>
            <a:r>
              <a:rPr lang="en-US"/>
              <a:t/>
            </a:r>
          </a:p>
          <a:p>
            <a:r>
              <a:rPr lang="en-US"/>
              <a:t>Nepali has a moderate score (0.4544).</a:t>
            </a:r>
          </a:p>
          <a:p>
            <a:r>
              <a:rPr lang="en-US"/>
              <a:t>The model identifies many polarized posts (high recall) but makes more mistakes on neutral ones (lower precision).</a:t>
            </a:r>
          </a:p>
          <a:p>
            <a:r>
              <a:rPr lang="en-US"/>
              <a:t>This suggests the dev data is more diverse or contains informal writing styles.</a:t>
            </a:r>
          </a:p>
          <a:p>
            <a:r>
              <a:rPr lang="en-US"/>
              <a:t/>
            </a:r>
          </a:p>
          <a:p>
            <a:r>
              <a:rPr lang="en-US"/>
              <a:t>Low Performance</a:t>
            </a:r>
          </a:p>
          <a:p>
            <a:r>
              <a:rPr lang="en-US"/>
              <a:t/>
            </a:r>
          </a:p>
          <a:p>
            <a:r>
              <a:rPr lang="en-US"/>
              <a:t>Spanish shows a lower F1 score (0.3582).</a:t>
            </a:r>
          </a:p>
          <a:p>
            <a:r>
              <a:rPr lang="en-US"/>
              <a:t>This is because the model has very high recall but low precision, meaning it predicts “polarized” too often.</a:t>
            </a:r>
          </a:p>
          <a:p>
            <a:r>
              <a:rPr lang="en-US"/>
              <a:t>This usually happens in languages with less training data or more noisy text on social media.</a:t>
            </a:r>
          </a:p>
          <a:p>
            <a:r>
              <a:rPr lang="en-US"/>
              <a:t/>
            </a:r>
          </a:p>
          <a:p>
            <a:r>
              <a:rPr lang="en-US"/>
              <a:t>Overall Insight</a:t>
            </a:r>
          </a:p>
          <a:p>
            <a:r>
              <a:rPr lang="en-US"/>
              <a:t/>
            </a:r>
          </a:p>
          <a:p>
            <a:r>
              <a:rPr lang="en-US"/>
              <a:t>High-resource languages → strong generalization</a:t>
            </a:r>
          </a:p>
          <a:p>
            <a:r>
              <a:rPr lang="en-US"/>
              <a:t/>
            </a:r>
          </a:p>
          <a:p>
            <a:r>
              <a:rPr lang="en-US"/>
              <a:t>Low-resource/noisy languages → weaker performance</a:t>
            </a:r>
          </a:p>
          <a:p>
            <a:r>
              <a:rPr lang="en-US"/>
              <a:t/>
            </a:r>
          </a:p>
          <a:p>
            <a:r>
              <a:rPr lang="en-US"/>
              <a:t>Some languages need threshold tuning or additional language-specific adjustments to improve accuracy</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Even though every language had equal training rows, mT5 does not learn them equally.</a:t>
            </a:r>
          </a:p>
          <a:p>
            <a:r>
              <a:rPr lang="en-US"/>
              <a:t>High-resource languages already have strong pretrained representations, cleaner scripts, and better vocabulary coverage. Low-resource languages still struggle because of limited pretraining data, noisy text, and complex linguistic structures.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xml" Type="http://schemas.openxmlformats.org/officeDocument/2006/relationships/notesSlid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xml" Type="http://schemas.openxmlformats.org/officeDocument/2006/relationships/notesSlide"/><Relationship Id="rId3" Target="../media/image6.pn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xml" Type="http://schemas.openxmlformats.org/officeDocument/2006/relationships/notesSlide"/><Relationship Id="rId3" Target="../media/image7.png" Type="http://schemas.openxmlformats.org/officeDocument/2006/relationships/image"/><Relationship Id="rId4" Target="../media/image8.png" Type="http://schemas.openxmlformats.org/officeDocument/2006/relationships/image"/><Relationship Id="rId5" Target="../media/image9.png" Type="http://schemas.openxmlformats.org/officeDocument/2006/relationships/image"/><Relationship Id="rId6" Target="../media/image10.png" Type="http://schemas.openxmlformats.org/officeDocument/2006/relationships/image"/><Relationship Id="rId7" Target="../media/image11.pn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4.xml" Type="http://schemas.openxmlformats.org/officeDocument/2006/relationships/notesSlide"/></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1.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2.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2.png" Type="http://schemas.openxmlformats.org/officeDocument/2006/relationships/image"/></Relationships>
</file>

<file path=ppt/slides/_rels/slide2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3.png" Type="http://schemas.openxmlformats.org/officeDocument/2006/relationships/image"/></Relationships>
</file>

<file path=ppt/slides/_rels/slide2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4.png" Type="http://schemas.openxmlformats.org/officeDocument/2006/relationships/image"/></Relationships>
</file>

<file path=ppt/slides/_rels/slide26.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7.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5.png" Type="http://schemas.openxmlformats.org/officeDocument/2006/relationships/image"/></Relationships>
</file>

<file path=ppt/slides/_rels/slide29.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30.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9050" y="9525"/>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alphaModFix amt="50000"/>
            </a:blip>
            <a:stretch>
              <a:fillRect l="0" t="0" r="0" b="0"/>
            </a:stretch>
          </a:blipFill>
        </p:spPr>
      </p:sp>
      <p:sp>
        <p:nvSpPr>
          <p:cNvPr name="TextBox 3" id="3"/>
          <p:cNvSpPr txBox="true"/>
          <p:nvPr/>
        </p:nvSpPr>
        <p:spPr>
          <a:xfrm rot="0">
            <a:off x="2245632" y="1062869"/>
            <a:ext cx="14475068" cy="2453640"/>
          </a:xfrm>
          <a:prstGeom prst="rect">
            <a:avLst/>
          </a:prstGeom>
        </p:spPr>
        <p:txBody>
          <a:bodyPr anchor="t" rtlCol="false" tIns="0" lIns="0" bIns="0" rIns="0">
            <a:spAutoFit/>
          </a:bodyPr>
          <a:lstStyle/>
          <a:p>
            <a:pPr algn="ctr">
              <a:lnSpc>
                <a:spcPts val="20160"/>
              </a:lnSpc>
            </a:pPr>
            <a:r>
              <a:rPr lang="en-US" sz="14400">
                <a:solidFill>
                  <a:srgbClr val="000000"/>
                </a:solidFill>
                <a:latin typeface="DM Serif Display"/>
                <a:ea typeface="DM Serif Display"/>
                <a:cs typeface="DM Serif Display"/>
                <a:sym typeface="DM Serif Display"/>
              </a:rPr>
              <a:t>SEM EVAL TASK 9</a:t>
            </a:r>
          </a:p>
        </p:txBody>
      </p:sp>
      <p:sp>
        <p:nvSpPr>
          <p:cNvPr name="TextBox 4" id="4"/>
          <p:cNvSpPr txBox="true"/>
          <p:nvPr/>
        </p:nvSpPr>
        <p:spPr>
          <a:xfrm rot="0">
            <a:off x="7418762" y="5048250"/>
            <a:ext cx="4128808" cy="2509520"/>
          </a:xfrm>
          <a:prstGeom prst="rect">
            <a:avLst/>
          </a:prstGeom>
        </p:spPr>
        <p:txBody>
          <a:bodyPr anchor="t" rtlCol="false" tIns="0" lIns="0" bIns="0" rIns="0">
            <a:spAutoFit/>
          </a:bodyPr>
          <a:lstStyle/>
          <a:p>
            <a:pPr algn="ctr">
              <a:lnSpc>
                <a:spcPts val="6579"/>
              </a:lnSpc>
            </a:pPr>
            <a:r>
              <a:rPr lang="en-US" sz="4699">
                <a:solidFill>
                  <a:srgbClr val="000000">
                    <a:alpha val="49804"/>
                  </a:srgbClr>
                </a:solidFill>
                <a:latin typeface="DM Serif Display"/>
                <a:ea typeface="DM Serif Display"/>
                <a:cs typeface="DM Serif Display"/>
                <a:sym typeface="DM Serif Display"/>
              </a:rPr>
              <a:t>TEAM KKR</a:t>
            </a:r>
          </a:p>
          <a:p>
            <a:pPr algn="ctr">
              <a:lnSpc>
                <a:spcPts val="4480"/>
              </a:lnSpc>
            </a:pPr>
            <a:r>
              <a:rPr lang="en-US" sz="3200">
                <a:solidFill>
                  <a:srgbClr val="000000">
                    <a:alpha val="49804"/>
                  </a:srgbClr>
                </a:solidFill>
                <a:latin typeface="DM Serif Display"/>
                <a:ea typeface="DM Serif Display"/>
                <a:cs typeface="DM Serif Display"/>
                <a:sym typeface="DM Serif Display"/>
              </a:rPr>
              <a:t>KAMAL</a:t>
            </a:r>
          </a:p>
          <a:p>
            <a:pPr algn="ctr">
              <a:lnSpc>
                <a:spcPts val="4480"/>
              </a:lnSpc>
            </a:pPr>
            <a:r>
              <a:rPr lang="en-US" sz="3200">
                <a:solidFill>
                  <a:srgbClr val="000000">
                    <a:alpha val="49804"/>
                  </a:srgbClr>
                </a:solidFill>
                <a:latin typeface="DM Serif Display"/>
                <a:ea typeface="DM Serif Display"/>
                <a:cs typeface="DM Serif Display"/>
                <a:sym typeface="DM Serif Display"/>
              </a:rPr>
              <a:t>KUSHI REDDY KANKAR</a:t>
            </a:r>
          </a:p>
          <a:p>
            <a:pPr algn="ctr">
              <a:lnSpc>
                <a:spcPts val="4480"/>
              </a:lnSpc>
              <a:spcBef>
                <a:spcPct val="0"/>
              </a:spcBef>
            </a:pPr>
            <a:r>
              <a:rPr lang="en-US" sz="3200">
                <a:solidFill>
                  <a:srgbClr val="000000">
                    <a:alpha val="49804"/>
                  </a:srgbClr>
                </a:solidFill>
                <a:latin typeface="DM Serif Display"/>
                <a:ea typeface="DM Serif Display"/>
                <a:cs typeface="DM Serif Display"/>
                <a:sym typeface="DM Serif Display"/>
              </a:rPr>
              <a:t> ROHAM MUKKA</a:t>
            </a:r>
          </a:p>
        </p:txBody>
      </p:sp>
    </p:spTree>
  </p:cSld>
  <p:clrMapOvr>
    <a:masterClrMapping/>
  </p:clrMapOvr>
</p:sld>
</file>

<file path=ppt/slides/slide2.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603866" y="537527"/>
            <a:ext cx="7687311" cy="887095"/>
          </a:xfrm>
          <a:prstGeom prst="rect">
            <a:avLst/>
          </a:prstGeom>
        </p:spPr>
        <p:txBody>
          <a:bodyPr anchor="t" rtlCol="false" tIns="0" lIns="0" bIns="0" rIns="0">
            <a:spAutoFit/>
          </a:bodyPr>
          <a:lstStyle/>
          <a:p>
            <a:pPr algn="ctr">
              <a:lnSpc>
                <a:spcPts val="7279"/>
              </a:lnSpc>
            </a:pPr>
            <a:r>
              <a:rPr lang="en-US" sz="5199" b="true">
                <a:solidFill>
                  <a:srgbClr val="000000"/>
                </a:solidFill>
                <a:latin typeface="Canva Sans Bold"/>
                <a:ea typeface="Canva Sans Bold"/>
                <a:cs typeface="Canva Sans Bold"/>
                <a:sym typeface="Canva Sans Bold"/>
              </a:rPr>
              <a:t>T</a:t>
            </a:r>
            <a:r>
              <a:rPr lang="en-US" b="true" sz="5199">
                <a:solidFill>
                  <a:srgbClr val="000000"/>
                </a:solidFill>
                <a:latin typeface="Canva Sans Bold"/>
                <a:ea typeface="Canva Sans Bold"/>
                <a:cs typeface="Canva Sans Bold"/>
                <a:sym typeface="Canva Sans Bold"/>
              </a:rPr>
              <a:t>ask Overview</a:t>
            </a:r>
          </a:p>
        </p:txBody>
      </p:sp>
      <p:sp>
        <p:nvSpPr>
          <p:cNvPr name="TextBox 3" id="3"/>
          <p:cNvSpPr txBox="true"/>
          <p:nvPr/>
        </p:nvSpPr>
        <p:spPr>
          <a:xfrm rot="0">
            <a:off x="9514166" y="2713599"/>
            <a:ext cx="9525" cy="537845"/>
          </a:xfrm>
          <a:prstGeom prst="rect">
            <a:avLst/>
          </a:prstGeom>
        </p:spPr>
        <p:txBody>
          <a:bodyPr anchor="t" rtlCol="false" tIns="0" lIns="0" bIns="0" rIns="0">
            <a:spAutoFit/>
          </a:bodyPr>
          <a:lstStyle/>
          <a:p>
            <a:pPr algn="ctr">
              <a:lnSpc>
                <a:spcPts val="4480"/>
              </a:lnSpc>
              <a:spcBef>
                <a:spcPct val="0"/>
              </a:spcBef>
            </a:pPr>
          </a:p>
        </p:txBody>
      </p:sp>
      <p:sp>
        <p:nvSpPr>
          <p:cNvPr name="TextBox 4" id="4"/>
          <p:cNvSpPr txBox="true"/>
          <p:nvPr/>
        </p:nvSpPr>
        <p:spPr>
          <a:xfrm rot="0">
            <a:off x="603866" y="1937117"/>
            <a:ext cx="17581347" cy="6801485"/>
          </a:xfrm>
          <a:prstGeom prst="rect">
            <a:avLst/>
          </a:prstGeom>
        </p:spPr>
        <p:txBody>
          <a:bodyPr anchor="t" rtlCol="false" tIns="0" lIns="0" bIns="0" rIns="0">
            <a:spAutoFit/>
          </a:bodyPr>
          <a:lstStyle/>
          <a:p>
            <a:pPr algn="l">
              <a:lnSpc>
                <a:spcPts val="4899"/>
              </a:lnSpc>
            </a:pPr>
            <a:r>
              <a:rPr lang="en-US" sz="3499" b="true">
                <a:solidFill>
                  <a:srgbClr val="000000"/>
                </a:solidFill>
                <a:latin typeface="Times New Roman Bold"/>
                <a:ea typeface="Times New Roman Bold"/>
                <a:cs typeface="Times New Roman Bold"/>
                <a:sym typeface="Times New Roman Bold"/>
              </a:rPr>
              <a:t>Goal:</a:t>
            </a:r>
          </a:p>
          <a:p>
            <a:pPr algn="l">
              <a:lnSpc>
                <a:spcPts val="4480"/>
              </a:lnSpc>
            </a:pPr>
            <a:r>
              <a:rPr lang="en-US" sz="3200">
                <a:solidFill>
                  <a:srgbClr val="000000"/>
                </a:solidFill>
                <a:latin typeface="Times New Roman"/>
                <a:ea typeface="Times New Roman"/>
                <a:cs typeface="Times New Roman"/>
                <a:sym typeface="Times New Roman"/>
              </a:rPr>
              <a:t>Binary classification of social media posts:</a:t>
            </a:r>
          </a:p>
          <a:p>
            <a:pPr algn="l" marL="690881" indent="-345440" lvl="1">
              <a:lnSpc>
                <a:spcPts val="4480"/>
              </a:lnSpc>
              <a:buFont typeface="Arial"/>
              <a:buChar char="•"/>
            </a:pPr>
            <a:r>
              <a:rPr lang="en-US" sz="3200">
                <a:solidFill>
                  <a:srgbClr val="000000"/>
                </a:solidFill>
                <a:latin typeface="Times New Roman"/>
                <a:ea typeface="Times New Roman"/>
                <a:cs typeface="Times New Roman"/>
                <a:sym typeface="Times New Roman"/>
              </a:rPr>
              <a:t>1 → Polarized (hostile, divisive, ideological, extreme)</a:t>
            </a:r>
          </a:p>
          <a:p>
            <a:pPr algn="l" marL="690881" indent="-345440" lvl="1">
              <a:lnSpc>
                <a:spcPts val="4480"/>
              </a:lnSpc>
              <a:spcBef>
                <a:spcPct val="0"/>
              </a:spcBef>
              <a:buFont typeface="Arial"/>
              <a:buChar char="•"/>
            </a:pPr>
            <a:r>
              <a:rPr lang="en-US" sz="3200">
                <a:solidFill>
                  <a:srgbClr val="000000"/>
                </a:solidFill>
                <a:latin typeface="Times New Roman"/>
                <a:ea typeface="Times New Roman"/>
                <a:cs typeface="Times New Roman"/>
                <a:sym typeface="Times New Roman"/>
              </a:rPr>
              <a:t>0 → Not P</a:t>
            </a:r>
            <a:r>
              <a:rPr lang="en-US" sz="3200">
                <a:solidFill>
                  <a:srgbClr val="000000"/>
                </a:solidFill>
                <a:latin typeface="Times New Roman"/>
                <a:ea typeface="Times New Roman"/>
                <a:cs typeface="Times New Roman"/>
                <a:sym typeface="Times New Roman"/>
              </a:rPr>
              <a:t>olarized (neutral, factual, general statements)</a:t>
            </a:r>
          </a:p>
          <a:p>
            <a:pPr algn="l">
              <a:lnSpc>
                <a:spcPts val="4480"/>
              </a:lnSpc>
              <a:spcBef>
                <a:spcPct val="0"/>
              </a:spcBef>
            </a:pPr>
          </a:p>
          <a:p>
            <a:pPr algn="l">
              <a:lnSpc>
                <a:spcPts val="4480"/>
              </a:lnSpc>
              <a:spcBef>
                <a:spcPct val="0"/>
              </a:spcBef>
            </a:pPr>
            <a:r>
              <a:rPr lang="en-US" b="true" sz="3200">
                <a:solidFill>
                  <a:srgbClr val="000000"/>
                </a:solidFill>
                <a:latin typeface="Times New Roman Bold"/>
                <a:ea typeface="Times New Roman Bold"/>
                <a:cs typeface="Times New Roman Bold"/>
                <a:sym typeface="Times New Roman Bold"/>
              </a:rPr>
              <a:t>Evaluation Metric:</a:t>
            </a:r>
          </a:p>
          <a:p>
            <a:pPr algn="l" marL="690881" indent="-345440" lvl="1">
              <a:lnSpc>
                <a:spcPts val="4480"/>
              </a:lnSpc>
              <a:spcBef>
                <a:spcPct val="0"/>
              </a:spcBef>
              <a:buFont typeface="Arial"/>
              <a:buChar char="•"/>
            </a:pPr>
            <a:r>
              <a:rPr lang="en-US" sz="3200">
                <a:solidFill>
                  <a:srgbClr val="000000"/>
                </a:solidFill>
                <a:latin typeface="Times New Roman"/>
                <a:ea typeface="Times New Roman"/>
                <a:cs typeface="Times New Roman"/>
                <a:sym typeface="Times New Roman"/>
              </a:rPr>
              <a:t>Macro F1-score (treats both classes equally)</a:t>
            </a:r>
          </a:p>
          <a:p>
            <a:pPr algn="l" marL="690881" indent="-345440" lvl="1">
              <a:lnSpc>
                <a:spcPts val="4480"/>
              </a:lnSpc>
              <a:spcBef>
                <a:spcPct val="0"/>
              </a:spcBef>
              <a:buFont typeface="Arial"/>
              <a:buChar char="•"/>
            </a:pPr>
            <a:r>
              <a:rPr lang="en-US" sz="3200">
                <a:solidFill>
                  <a:srgbClr val="000000"/>
                </a:solidFill>
                <a:latin typeface="Times New Roman"/>
                <a:ea typeface="Times New Roman"/>
                <a:cs typeface="Times New Roman"/>
                <a:sym typeface="Times New Roman"/>
              </a:rPr>
              <a:t>Average Accuracy</a:t>
            </a:r>
          </a:p>
          <a:p>
            <a:pPr algn="l">
              <a:lnSpc>
                <a:spcPts val="4480"/>
              </a:lnSpc>
              <a:spcBef>
                <a:spcPct val="0"/>
              </a:spcBef>
            </a:pPr>
          </a:p>
          <a:p>
            <a:pPr algn="l">
              <a:lnSpc>
                <a:spcPts val="4480"/>
              </a:lnSpc>
              <a:spcBef>
                <a:spcPct val="0"/>
              </a:spcBef>
            </a:pPr>
            <a:r>
              <a:rPr lang="en-US" b="true" sz="3200">
                <a:solidFill>
                  <a:srgbClr val="000000"/>
                </a:solidFill>
                <a:latin typeface="Times New Roman Bold"/>
                <a:ea typeface="Times New Roman Bold"/>
                <a:cs typeface="Times New Roman Bold"/>
                <a:sym typeface="Times New Roman Bold"/>
              </a:rPr>
              <a:t>Dataset:</a:t>
            </a:r>
          </a:p>
          <a:p>
            <a:pPr algn="l" marL="690881" indent="-345440" lvl="1">
              <a:lnSpc>
                <a:spcPts val="4480"/>
              </a:lnSpc>
              <a:spcBef>
                <a:spcPct val="0"/>
              </a:spcBef>
              <a:buFont typeface="Arial"/>
              <a:buChar char="•"/>
            </a:pPr>
            <a:r>
              <a:rPr lang="en-US" sz="3200">
                <a:solidFill>
                  <a:srgbClr val="000000"/>
                </a:solidFill>
                <a:latin typeface="Times New Roman"/>
                <a:ea typeface="Times New Roman"/>
                <a:cs typeface="Times New Roman"/>
                <a:sym typeface="Times New Roman"/>
              </a:rPr>
              <a:t>Multilingual (22 languages total)</a:t>
            </a:r>
          </a:p>
          <a:p>
            <a:pPr algn="l" marL="690881" indent="-345440" lvl="1">
              <a:lnSpc>
                <a:spcPts val="4480"/>
              </a:lnSpc>
              <a:spcBef>
                <a:spcPct val="0"/>
              </a:spcBef>
              <a:buFont typeface="Arial"/>
              <a:buChar char="•"/>
            </a:pPr>
            <a:r>
              <a:rPr lang="en-US" sz="3200">
                <a:solidFill>
                  <a:srgbClr val="000000"/>
                </a:solidFill>
                <a:latin typeface="Times New Roman"/>
                <a:ea typeface="Times New Roman"/>
                <a:cs typeface="Times New Roman"/>
                <a:sym typeface="Times New Roman"/>
              </a:rPr>
              <a:t>I primarily worked with Amharic, Arabic, Bengali, German, English, Hausa, Hindi, Italian, Burmese</a:t>
            </a:r>
          </a:p>
        </p:txBody>
      </p:sp>
    </p:spTree>
  </p:cSld>
  <p:clrMapOvr>
    <a:masterClrMapping/>
  </p:clrMapOvr>
</p:sld>
</file>

<file path=ppt/slides/slide3.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236278" y="141605"/>
            <a:ext cx="13136952" cy="887095"/>
          </a:xfrm>
          <a:prstGeom prst="rect">
            <a:avLst/>
          </a:prstGeom>
        </p:spPr>
        <p:txBody>
          <a:bodyPr anchor="t" rtlCol="false" tIns="0" lIns="0" bIns="0" rIns="0">
            <a:spAutoFit/>
          </a:bodyPr>
          <a:lstStyle/>
          <a:p>
            <a:pPr algn="just">
              <a:lnSpc>
                <a:spcPts val="7279"/>
              </a:lnSpc>
            </a:pPr>
            <a:r>
              <a:rPr lang="en-US" sz="5199" b="true">
                <a:solidFill>
                  <a:srgbClr val="000000"/>
                </a:solidFill>
                <a:latin typeface="Canva Sans Bold"/>
                <a:ea typeface="Canva Sans Bold"/>
                <a:cs typeface="Canva Sans Bold"/>
                <a:sym typeface="Canva Sans Bold"/>
              </a:rPr>
              <a:t>Baseline</a:t>
            </a:r>
            <a:r>
              <a:rPr lang="en-US" b="true" sz="5199">
                <a:solidFill>
                  <a:srgbClr val="000000"/>
                </a:solidFill>
                <a:latin typeface="Canva Sans Bold"/>
                <a:ea typeface="Canva Sans Bold"/>
                <a:cs typeface="Canva Sans Bold"/>
                <a:sym typeface="Canva Sans Bold"/>
              </a:rPr>
              <a:t> 1: Multilingual BERT</a:t>
            </a:r>
          </a:p>
        </p:txBody>
      </p:sp>
      <p:sp>
        <p:nvSpPr>
          <p:cNvPr name="TextBox 3" id="3"/>
          <p:cNvSpPr txBox="true"/>
          <p:nvPr/>
        </p:nvSpPr>
        <p:spPr>
          <a:xfrm rot="0">
            <a:off x="544031" y="1649309"/>
            <a:ext cx="17743969" cy="11131346"/>
          </a:xfrm>
          <a:prstGeom prst="rect">
            <a:avLst/>
          </a:prstGeom>
        </p:spPr>
        <p:txBody>
          <a:bodyPr anchor="t" rtlCol="false" tIns="0" lIns="0" bIns="0" rIns="0">
            <a:spAutoFit/>
          </a:bodyPr>
          <a:lstStyle/>
          <a:p>
            <a:pPr algn="just">
              <a:lnSpc>
                <a:spcPts val="4346"/>
              </a:lnSpc>
            </a:pPr>
            <a:r>
              <a:rPr lang="en-US" sz="3104" b="true">
                <a:solidFill>
                  <a:srgbClr val="000000"/>
                </a:solidFill>
                <a:latin typeface="Times New Roman Bold"/>
                <a:ea typeface="Times New Roman Bold"/>
                <a:cs typeface="Times New Roman Bold"/>
                <a:sym typeface="Times New Roman Bold"/>
              </a:rPr>
              <a:t>Mo</a:t>
            </a:r>
            <a:r>
              <a:rPr lang="en-US" b="true" sz="3104">
                <a:solidFill>
                  <a:srgbClr val="000000"/>
                </a:solidFill>
                <a:latin typeface="Times New Roman Bold"/>
                <a:ea typeface="Times New Roman Bold"/>
                <a:cs typeface="Times New Roman Bold"/>
                <a:sym typeface="Times New Roman Bold"/>
              </a:rPr>
              <a:t>del Overview</a:t>
            </a:r>
          </a:p>
          <a:p>
            <a:pPr algn="just">
              <a:lnSpc>
                <a:spcPts val="4346"/>
              </a:lnSpc>
            </a:pPr>
            <a:r>
              <a:rPr lang="en-US" sz="3104">
                <a:solidFill>
                  <a:srgbClr val="000000"/>
                </a:solidFill>
                <a:latin typeface="Times New Roman"/>
                <a:ea typeface="Times New Roman"/>
                <a:cs typeface="Times New Roman"/>
                <a:sym typeface="Times New Roman"/>
              </a:rPr>
              <a:t>mBERT (Multilingual BERT) is a transformer-based model trained on Wikipedia across 104 languages.</a:t>
            </a:r>
          </a:p>
          <a:p>
            <a:pPr algn="just">
              <a:lnSpc>
                <a:spcPts val="4346"/>
              </a:lnSpc>
            </a:pPr>
            <a:r>
              <a:rPr lang="en-US" sz="3104">
                <a:solidFill>
                  <a:srgbClr val="000000"/>
                </a:solidFill>
                <a:latin typeface="Times New Roman"/>
                <a:ea typeface="Times New Roman"/>
                <a:cs typeface="Times New Roman"/>
                <a:sym typeface="Times New Roman"/>
              </a:rPr>
              <a:t> It represents text using subword tokenization and performs well on multilingual classification tasks.</a:t>
            </a:r>
          </a:p>
          <a:p>
            <a:pPr algn="just">
              <a:lnSpc>
                <a:spcPts val="4346"/>
              </a:lnSpc>
            </a:pPr>
          </a:p>
          <a:p>
            <a:pPr algn="just">
              <a:lnSpc>
                <a:spcPts val="4346"/>
              </a:lnSpc>
            </a:pPr>
            <a:r>
              <a:rPr lang="en-US" b="true" sz="3104">
                <a:solidFill>
                  <a:srgbClr val="000000"/>
                </a:solidFill>
                <a:latin typeface="Times New Roman Bold"/>
                <a:ea typeface="Times New Roman Bold"/>
                <a:cs typeface="Times New Roman Bold"/>
                <a:sym typeface="Times New Roman Bold"/>
              </a:rPr>
              <a:t>Implementation</a:t>
            </a:r>
          </a:p>
          <a:p>
            <a:pPr algn="just">
              <a:lnSpc>
                <a:spcPts val="4346"/>
              </a:lnSpc>
            </a:pPr>
            <a:r>
              <a:rPr lang="en-US" sz="3104">
                <a:solidFill>
                  <a:srgbClr val="000000"/>
                </a:solidFill>
                <a:latin typeface="Times New Roman"/>
                <a:ea typeface="Times New Roman"/>
                <a:cs typeface="Times New Roman"/>
                <a:sym typeface="Times New Roman"/>
              </a:rPr>
              <a:t>Used the official baseline code provided by the task organizers.</a:t>
            </a:r>
          </a:p>
          <a:p>
            <a:pPr algn="just">
              <a:lnSpc>
                <a:spcPts val="4346"/>
              </a:lnSpc>
            </a:pPr>
            <a:r>
              <a:rPr lang="en-US" sz="3104">
                <a:solidFill>
                  <a:srgbClr val="000000"/>
                </a:solidFill>
                <a:latin typeface="Times New Roman"/>
                <a:ea typeface="Times New Roman"/>
                <a:cs typeface="Times New Roman"/>
                <a:sym typeface="Times New Roman"/>
              </a:rPr>
              <a:t>Experimented with two variants:</a:t>
            </a:r>
          </a:p>
          <a:p>
            <a:pPr algn="just" marL="670328" indent="-335164" lvl="1">
              <a:lnSpc>
                <a:spcPts val="4346"/>
              </a:lnSpc>
              <a:buFont typeface="Arial"/>
              <a:buChar char="•"/>
            </a:pPr>
            <a:r>
              <a:rPr lang="en-US" sz="3104">
                <a:solidFill>
                  <a:srgbClr val="000000"/>
                </a:solidFill>
                <a:latin typeface="Times New Roman"/>
                <a:ea typeface="Times New Roman"/>
                <a:cs typeface="Times New Roman"/>
                <a:sym typeface="Times New Roman"/>
              </a:rPr>
              <a:t>bert-base-multilingual-cased</a:t>
            </a:r>
          </a:p>
          <a:p>
            <a:pPr algn="just" marL="670328" indent="-335164" lvl="1">
              <a:lnSpc>
                <a:spcPts val="4346"/>
              </a:lnSpc>
              <a:buFont typeface="Arial"/>
              <a:buChar char="•"/>
            </a:pPr>
            <a:r>
              <a:rPr lang="en-US" sz="3104">
                <a:solidFill>
                  <a:srgbClr val="000000"/>
                </a:solidFill>
                <a:latin typeface="Times New Roman"/>
                <a:ea typeface="Times New Roman"/>
                <a:cs typeface="Times New Roman"/>
                <a:sym typeface="Times New Roman"/>
              </a:rPr>
              <a:t>bert-base-multilingual-uncased</a:t>
            </a:r>
          </a:p>
          <a:p>
            <a:pPr algn="just">
              <a:lnSpc>
                <a:spcPts val="4346"/>
              </a:lnSpc>
            </a:pPr>
          </a:p>
          <a:p>
            <a:pPr algn="just">
              <a:lnSpc>
                <a:spcPts val="4346"/>
              </a:lnSpc>
            </a:pPr>
            <a:r>
              <a:rPr lang="en-US" b="true" sz="3104">
                <a:solidFill>
                  <a:srgbClr val="000000"/>
                </a:solidFill>
                <a:latin typeface="Times New Roman Bold"/>
                <a:ea typeface="Times New Roman Bold"/>
                <a:cs typeface="Times New Roman Bold"/>
                <a:sym typeface="Times New Roman Bold"/>
              </a:rPr>
              <a:t>Why This Matters</a:t>
            </a:r>
          </a:p>
          <a:p>
            <a:pPr algn="just" marL="670328" indent="-335164" lvl="1">
              <a:lnSpc>
                <a:spcPts val="4346"/>
              </a:lnSpc>
              <a:buFont typeface="Arial"/>
              <a:buChar char="•"/>
            </a:pPr>
            <a:r>
              <a:rPr lang="en-US" b="true" sz="3104">
                <a:solidFill>
                  <a:srgbClr val="000000"/>
                </a:solidFill>
                <a:latin typeface="Times New Roman Bold"/>
                <a:ea typeface="Times New Roman Bold"/>
                <a:cs typeface="Times New Roman Bold"/>
                <a:sym typeface="Times New Roman Bold"/>
              </a:rPr>
              <a:t>Cased mBERT</a:t>
            </a:r>
            <a:r>
              <a:rPr lang="en-US" sz="3104">
                <a:solidFill>
                  <a:srgbClr val="000000"/>
                </a:solidFill>
                <a:latin typeface="Times New Roman"/>
                <a:ea typeface="Times New Roman"/>
                <a:cs typeface="Times New Roman"/>
                <a:sym typeface="Times New Roman"/>
              </a:rPr>
              <a:t> keeps word capitalization — useful in languages like English, German, Arabic.</a:t>
            </a:r>
          </a:p>
          <a:p>
            <a:pPr algn="just" marL="670328" indent="-335164" lvl="1">
              <a:lnSpc>
                <a:spcPts val="4346"/>
              </a:lnSpc>
              <a:buFont typeface="Arial"/>
              <a:buChar char="•"/>
            </a:pPr>
            <a:r>
              <a:rPr lang="en-US" b="true" sz="3104">
                <a:solidFill>
                  <a:srgbClr val="000000"/>
                </a:solidFill>
                <a:latin typeface="Times New Roman Bold"/>
                <a:ea typeface="Times New Roman Bold"/>
                <a:cs typeface="Times New Roman Bold"/>
                <a:sym typeface="Times New Roman Bold"/>
              </a:rPr>
              <a:t>Uncased mBERT</a:t>
            </a:r>
            <a:r>
              <a:rPr lang="en-US" sz="3104">
                <a:solidFill>
                  <a:srgbClr val="000000"/>
                </a:solidFill>
                <a:latin typeface="Times New Roman"/>
                <a:ea typeface="Times New Roman"/>
                <a:cs typeface="Times New Roman"/>
                <a:sym typeface="Times New Roman"/>
              </a:rPr>
              <a:t> removes case distinctions — helpful for languages where case is not meaningful, and reduces vocabulary sparsity.</a:t>
            </a:r>
          </a:p>
          <a:p>
            <a:pPr algn="just">
              <a:lnSpc>
                <a:spcPts val="4618"/>
              </a:lnSpc>
            </a:pPr>
          </a:p>
          <a:p>
            <a:pPr algn="just">
              <a:lnSpc>
                <a:spcPts val="4618"/>
              </a:lnSpc>
            </a:pPr>
          </a:p>
          <a:p>
            <a:pPr algn="just">
              <a:lnSpc>
                <a:spcPts val="4618"/>
              </a:lnSpc>
            </a:pPr>
          </a:p>
          <a:p>
            <a:pPr algn="just">
              <a:lnSpc>
                <a:spcPts val="4618"/>
              </a:lnSpc>
            </a:pPr>
          </a:p>
          <a:p>
            <a:pPr algn="just">
              <a:lnSpc>
                <a:spcPts val="4618"/>
              </a:lnSpc>
            </a:pPr>
          </a:p>
          <a:p>
            <a:pPr algn="just">
              <a:lnSpc>
                <a:spcPts val="4618"/>
              </a:lnSpc>
            </a:pP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5347923" y="1393935"/>
            <a:ext cx="8136667" cy="8314821"/>
          </a:xfrm>
          <a:custGeom>
            <a:avLst/>
            <a:gdLst/>
            <a:ahLst/>
            <a:cxnLst/>
            <a:rect r="r" b="b" t="t" l="l"/>
            <a:pathLst>
              <a:path h="8314821" w="8136667">
                <a:moveTo>
                  <a:pt x="0" y="0"/>
                </a:moveTo>
                <a:lnTo>
                  <a:pt x="8136667" y="0"/>
                </a:lnTo>
                <a:lnTo>
                  <a:pt x="8136667" y="8314821"/>
                </a:lnTo>
                <a:lnTo>
                  <a:pt x="0" y="8314821"/>
                </a:lnTo>
                <a:lnTo>
                  <a:pt x="0" y="0"/>
                </a:lnTo>
                <a:close/>
              </a:path>
            </a:pathLst>
          </a:custGeom>
          <a:blipFill>
            <a:blip r:embed="rId2"/>
            <a:stretch>
              <a:fillRect l="0" t="-1022" r="-314" b="-703"/>
            </a:stretch>
          </a:blipFill>
        </p:spPr>
      </p:sp>
      <p:sp>
        <p:nvSpPr>
          <p:cNvPr name="TextBox 3" id="3"/>
          <p:cNvSpPr txBox="true"/>
          <p:nvPr/>
        </p:nvSpPr>
        <p:spPr>
          <a:xfrm rot="0">
            <a:off x="0" y="506840"/>
            <a:ext cx="5611599" cy="887095"/>
          </a:xfrm>
          <a:prstGeom prst="rect">
            <a:avLst/>
          </a:prstGeom>
        </p:spPr>
        <p:txBody>
          <a:bodyPr anchor="t" rtlCol="false" tIns="0" lIns="0" bIns="0" rIns="0">
            <a:spAutoFit/>
          </a:bodyPr>
          <a:lstStyle/>
          <a:p>
            <a:pPr algn="ctr">
              <a:lnSpc>
                <a:spcPts val="7279"/>
              </a:lnSpc>
            </a:pPr>
            <a:r>
              <a:rPr lang="en-US" sz="5199" b="true">
                <a:solidFill>
                  <a:srgbClr val="000000"/>
                </a:solidFill>
                <a:latin typeface="Canva Sans Bold"/>
                <a:ea typeface="Canva Sans Bold"/>
                <a:cs typeface="Canva Sans Bold"/>
                <a:sym typeface="Canva Sans Bold"/>
              </a:rPr>
              <a:t>Results: cased</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4682907" y="1392001"/>
            <a:ext cx="8429237" cy="8742759"/>
          </a:xfrm>
          <a:custGeom>
            <a:avLst/>
            <a:gdLst/>
            <a:ahLst/>
            <a:cxnLst/>
            <a:rect r="r" b="b" t="t" l="l"/>
            <a:pathLst>
              <a:path h="8742759" w="8429237">
                <a:moveTo>
                  <a:pt x="0" y="0"/>
                </a:moveTo>
                <a:lnTo>
                  <a:pt x="8429237" y="0"/>
                </a:lnTo>
                <a:lnTo>
                  <a:pt x="8429237" y="8742759"/>
                </a:lnTo>
                <a:lnTo>
                  <a:pt x="0" y="8742759"/>
                </a:lnTo>
                <a:lnTo>
                  <a:pt x="0" y="0"/>
                </a:lnTo>
                <a:close/>
              </a:path>
            </a:pathLst>
          </a:custGeom>
          <a:blipFill>
            <a:blip r:embed="rId2"/>
            <a:stretch>
              <a:fillRect l="0" t="-2115" r="0" b="-2115"/>
            </a:stretch>
          </a:blipFill>
        </p:spPr>
      </p:sp>
      <p:sp>
        <p:nvSpPr>
          <p:cNvPr name="TextBox 3" id="3"/>
          <p:cNvSpPr txBox="true"/>
          <p:nvPr/>
        </p:nvSpPr>
        <p:spPr>
          <a:xfrm rot="0">
            <a:off x="0" y="537527"/>
            <a:ext cx="6456535" cy="887095"/>
          </a:xfrm>
          <a:prstGeom prst="rect">
            <a:avLst/>
          </a:prstGeom>
        </p:spPr>
        <p:txBody>
          <a:bodyPr anchor="t" rtlCol="false" tIns="0" lIns="0" bIns="0" rIns="0">
            <a:spAutoFit/>
          </a:bodyPr>
          <a:lstStyle/>
          <a:p>
            <a:pPr algn="ctr">
              <a:lnSpc>
                <a:spcPts val="7279"/>
              </a:lnSpc>
              <a:spcBef>
                <a:spcPct val="0"/>
              </a:spcBef>
            </a:pPr>
            <a:r>
              <a:rPr lang="en-US" b="true" sz="5199">
                <a:solidFill>
                  <a:srgbClr val="000000"/>
                </a:solidFill>
                <a:latin typeface="Canva Sans Bold"/>
                <a:ea typeface="Canva Sans Bold"/>
                <a:cs typeface="Canva Sans Bold"/>
                <a:sym typeface="Canva Sans Bold"/>
              </a:rPr>
              <a:t>Results: uncased</a:t>
            </a:r>
          </a:p>
        </p:txBody>
      </p:sp>
    </p:spTree>
  </p:cSld>
  <p:clrMapOvr>
    <a:masterClrMapping/>
  </p:clrMapOvr>
</p:sld>
</file>

<file path=ppt/slides/slide6.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564185" y="537527"/>
            <a:ext cx="15046032" cy="887095"/>
          </a:xfrm>
          <a:prstGeom prst="rect">
            <a:avLst/>
          </a:prstGeom>
        </p:spPr>
        <p:txBody>
          <a:bodyPr anchor="t" rtlCol="false" tIns="0" lIns="0" bIns="0" rIns="0">
            <a:spAutoFit/>
          </a:bodyPr>
          <a:lstStyle/>
          <a:p>
            <a:pPr algn="l">
              <a:lnSpc>
                <a:spcPts val="7279"/>
              </a:lnSpc>
            </a:pPr>
            <a:r>
              <a:rPr lang="en-US" sz="5199" b="true">
                <a:solidFill>
                  <a:srgbClr val="000000"/>
                </a:solidFill>
                <a:latin typeface="Canva Sans Bold"/>
                <a:ea typeface="Canva Sans Bold"/>
                <a:cs typeface="Canva Sans Bold"/>
                <a:sym typeface="Canva Sans Bold"/>
              </a:rPr>
              <a:t>Baseline</a:t>
            </a:r>
            <a:r>
              <a:rPr lang="en-US" b="true" sz="5199">
                <a:solidFill>
                  <a:srgbClr val="000000"/>
                </a:solidFill>
                <a:latin typeface="Canva Sans Bold"/>
                <a:ea typeface="Canva Sans Bold"/>
                <a:cs typeface="Canva Sans Bold"/>
                <a:sym typeface="Canva Sans Bold"/>
              </a:rPr>
              <a:t> 1: Multilingual BERT </a:t>
            </a:r>
          </a:p>
        </p:txBody>
      </p:sp>
      <p:sp>
        <p:nvSpPr>
          <p:cNvPr name="TextBox 3" id="3"/>
          <p:cNvSpPr txBox="true"/>
          <p:nvPr/>
        </p:nvSpPr>
        <p:spPr>
          <a:xfrm rot="0">
            <a:off x="291078" y="2062946"/>
            <a:ext cx="17996922" cy="7479665"/>
          </a:xfrm>
          <a:prstGeom prst="rect">
            <a:avLst/>
          </a:prstGeom>
        </p:spPr>
        <p:txBody>
          <a:bodyPr anchor="t" rtlCol="false" tIns="0" lIns="0" bIns="0" rIns="0">
            <a:spAutoFit/>
          </a:bodyPr>
          <a:lstStyle/>
          <a:p>
            <a:pPr algn="l">
              <a:lnSpc>
                <a:spcPts val="5459"/>
              </a:lnSpc>
            </a:pPr>
            <a:r>
              <a:rPr lang="en-US" sz="3899" b="true">
                <a:solidFill>
                  <a:srgbClr val="000000"/>
                </a:solidFill>
                <a:latin typeface="Times New Roman Bold"/>
                <a:ea typeface="Times New Roman Bold"/>
                <a:cs typeface="Times New Roman Bold"/>
                <a:sym typeface="Times New Roman Bold"/>
              </a:rPr>
              <a:t>Observations</a:t>
            </a:r>
          </a:p>
          <a:p>
            <a:pPr algn="l" marL="690881" indent="-345440" lvl="1">
              <a:lnSpc>
                <a:spcPts val="4480"/>
              </a:lnSpc>
              <a:buFont typeface="Arial"/>
              <a:buChar char="•"/>
            </a:pPr>
            <a:r>
              <a:rPr lang="en-US" sz="3200">
                <a:solidFill>
                  <a:srgbClr val="000000"/>
                </a:solidFill>
                <a:latin typeface="Times New Roman"/>
                <a:ea typeface="Times New Roman"/>
                <a:cs typeface="Times New Roman"/>
                <a:sym typeface="Times New Roman"/>
              </a:rPr>
              <a:t>m</a:t>
            </a:r>
            <a:r>
              <a:rPr lang="en-US" sz="3200">
                <a:solidFill>
                  <a:srgbClr val="000000"/>
                </a:solidFill>
                <a:latin typeface="Times New Roman"/>
                <a:ea typeface="Times New Roman"/>
                <a:cs typeface="Times New Roman"/>
                <a:sym typeface="Times New Roman"/>
              </a:rPr>
              <a:t>BERT performance is highly language-dependent.</a:t>
            </a:r>
          </a:p>
          <a:p>
            <a:pPr algn="l">
              <a:lnSpc>
                <a:spcPts val="4480"/>
              </a:lnSpc>
            </a:pPr>
          </a:p>
          <a:p>
            <a:pPr algn="l" marL="690881" indent="-345440" lvl="1">
              <a:lnSpc>
                <a:spcPts val="4480"/>
              </a:lnSpc>
              <a:buFont typeface="Arial"/>
              <a:buChar char="•"/>
            </a:pPr>
            <a:r>
              <a:rPr lang="en-US" sz="3200">
                <a:solidFill>
                  <a:srgbClr val="000000"/>
                </a:solidFill>
                <a:latin typeface="Times New Roman"/>
                <a:ea typeface="Times New Roman"/>
                <a:cs typeface="Times New Roman"/>
                <a:sym typeface="Times New Roman"/>
              </a:rPr>
              <a:t>Some languages (e.g., Hausa, Burmese, Bengali) score high, while others (e.g., Amharic, Italian, Arabic) drop significantly.</a:t>
            </a:r>
          </a:p>
          <a:p>
            <a:pPr algn="l">
              <a:lnSpc>
                <a:spcPts val="4480"/>
              </a:lnSpc>
            </a:pPr>
          </a:p>
          <a:p>
            <a:pPr algn="l" marL="690881" indent="-345440" lvl="1">
              <a:lnSpc>
                <a:spcPts val="4480"/>
              </a:lnSpc>
              <a:buFont typeface="Arial"/>
              <a:buChar char="•"/>
            </a:pPr>
            <a:r>
              <a:rPr lang="en-US" sz="3200">
                <a:solidFill>
                  <a:srgbClr val="000000"/>
                </a:solidFill>
                <a:latin typeface="Times New Roman"/>
                <a:ea typeface="Times New Roman"/>
                <a:cs typeface="Times New Roman"/>
                <a:sym typeface="Times New Roman"/>
              </a:rPr>
              <a:t>C</a:t>
            </a:r>
            <a:r>
              <a:rPr lang="en-US" sz="3200">
                <a:solidFill>
                  <a:srgbClr val="000000"/>
                </a:solidFill>
                <a:latin typeface="Times New Roman"/>
                <a:ea typeface="Times New Roman"/>
                <a:cs typeface="Times New Roman"/>
                <a:sym typeface="Times New Roman"/>
              </a:rPr>
              <a:t>ased vs.uncased</a:t>
            </a:r>
            <a:r>
              <a:rPr lang="en-US" sz="3200">
                <a:solidFill>
                  <a:srgbClr val="000000"/>
                </a:solidFill>
                <a:latin typeface="Times New Roman"/>
                <a:ea typeface="Times New Roman"/>
                <a:cs typeface="Times New Roman"/>
                <a:sym typeface="Times New Roman"/>
              </a:rPr>
              <a:t> did not demonstrate a clear universal advantage.</a:t>
            </a:r>
          </a:p>
          <a:p>
            <a:pPr algn="l">
              <a:lnSpc>
                <a:spcPts val="4480"/>
              </a:lnSpc>
            </a:pPr>
          </a:p>
          <a:p>
            <a:pPr algn="l" marL="690881" indent="-345440" lvl="1">
              <a:lnSpc>
                <a:spcPts val="4480"/>
              </a:lnSpc>
              <a:buFont typeface="Arial"/>
              <a:buChar char="•"/>
            </a:pPr>
            <a:r>
              <a:rPr lang="en-US" sz="3200">
                <a:solidFill>
                  <a:srgbClr val="000000"/>
                </a:solidFill>
                <a:latin typeface="Times New Roman"/>
                <a:ea typeface="Times New Roman"/>
                <a:cs typeface="Times New Roman"/>
                <a:sym typeface="Times New Roman"/>
              </a:rPr>
              <a:t>Cased performed slightly better for languages with capitalization rules (EN, DE, AR).</a:t>
            </a:r>
          </a:p>
          <a:p>
            <a:pPr algn="l">
              <a:lnSpc>
                <a:spcPts val="4480"/>
              </a:lnSpc>
            </a:pPr>
          </a:p>
          <a:p>
            <a:pPr algn="l" marL="690881" indent="-345440" lvl="1">
              <a:lnSpc>
                <a:spcPts val="4480"/>
              </a:lnSpc>
              <a:buFont typeface="Arial"/>
              <a:buChar char="•"/>
            </a:pPr>
            <a:r>
              <a:rPr lang="en-US" sz="3200">
                <a:solidFill>
                  <a:srgbClr val="000000"/>
                </a:solidFill>
                <a:latin typeface="Times New Roman"/>
                <a:ea typeface="Times New Roman"/>
                <a:cs typeface="Times New Roman"/>
                <a:sym typeface="Times New Roman"/>
              </a:rPr>
              <a:t>Uncased performed better for languages where case is irrelevant or inconsistent.</a:t>
            </a:r>
          </a:p>
          <a:p>
            <a:pPr algn="l">
              <a:lnSpc>
                <a:spcPts val="4480"/>
              </a:lnSpc>
            </a:pPr>
          </a:p>
          <a:p>
            <a:pPr algn="l">
              <a:lnSpc>
                <a:spcPts val="4759"/>
              </a:lnSpc>
            </a:pPr>
          </a:p>
        </p:txBody>
      </p:sp>
    </p:spTree>
  </p:cSld>
  <p:clrMapOvr>
    <a:masterClrMapping/>
  </p:clrMapOvr>
</p:sld>
</file>

<file path=ppt/slides/slide7.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473150" y="537527"/>
            <a:ext cx="15046032" cy="887095"/>
          </a:xfrm>
          <a:prstGeom prst="rect">
            <a:avLst/>
          </a:prstGeom>
        </p:spPr>
        <p:txBody>
          <a:bodyPr anchor="t" rtlCol="false" tIns="0" lIns="0" bIns="0" rIns="0">
            <a:spAutoFit/>
          </a:bodyPr>
          <a:lstStyle/>
          <a:p>
            <a:pPr algn="l">
              <a:lnSpc>
                <a:spcPts val="7279"/>
              </a:lnSpc>
            </a:pPr>
            <a:r>
              <a:rPr lang="en-US" sz="5199" b="true">
                <a:solidFill>
                  <a:srgbClr val="000000"/>
                </a:solidFill>
                <a:latin typeface="Canva Sans Bold"/>
                <a:ea typeface="Canva Sans Bold"/>
                <a:cs typeface="Canva Sans Bold"/>
                <a:sym typeface="Canva Sans Bold"/>
              </a:rPr>
              <a:t>Baseline</a:t>
            </a:r>
            <a:r>
              <a:rPr lang="en-US" b="true" sz="5199">
                <a:solidFill>
                  <a:srgbClr val="000000"/>
                </a:solidFill>
                <a:latin typeface="Canva Sans Bold"/>
                <a:ea typeface="Canva Sans Bold"/>
                <a:cs typeface="Canva Sans Bold"/>
                <a:sym typeface="Canva Sans Bold"/>
              </a:rPr>
              <a:t> 1: Multilingual BERT </a:t>
            </a:r>
          </a:p>
        </p:txBody>
      </p:sp>
      <p:sp>
        <p:nvSpPr>
          <p:cNvPr name="TextBox 3" id="3"/>
          <p:cNvSpPr txBox="true"/>
          <p:nvPr/>
        </p:nvSpPr>
        <p:spPr>
          <a:xfrm rot="0">
            <a:off x="291078" y="1951231"/>
            <a:ext cx="17996922" cy="6917690"/>
          </a:xfrm>
          <a:prstGeom prst="rect">
            <a:avLst/>
          </a:prstGeom>
        </p:spPr>
        <p:txBody>
          <a:bodyPr anchor="t" rtlCol="false" tIns="0" lIns="0" bIns="0" rIns="0">
            <a:spAutoFit/>
          </a:bodyPr>
          <a:lstStyle/>
          <a:p>
            <a:pPr algn="l">
              <a:lnSpc>
                <a:spcPts val="5459"/>
              </a:lnSpc>
            </a:pPr>
            <a:r>
              <a:rPr lang="en-US" sz="3899" b="true">
                <a:solidFill>
                  <a:srgbClr val="000000"/>
                </a:solidFill>
                <a:latin typeface="Times New Roman Bold"/>
                <a:ea typeface="Times New Roman Bold"/>
                <a:cs typeface="Times New Roman Bold"/>
                <a:sym typeface="Times New Roman Bold"/>
              </a:rPr>
              <a:t>Conclusion</a:t>
            </a:r>
          </a:p>
          <a:p>
            <a:pPr algn="l" marL="690881" indent="-345440" lvl="1">
              <a:lnSpc>
                <a:spcPts val="4480"/>
              </a:lnSpc>
              <a:buFont typeface="Arial"/>
              <a:buChar char="•"/>
            </a:pPr>
            <a:r>
              <a:rPr lang="en-US" sz="3200">
                <a:solidFill>
                  <a:srgbClr val="000000"/>
                </a:solidFill>
                <a:latin typeface="Times New Roman"/>
                <a:ea typeface="Times New Roman"/>
                <a:cs typeface="Times New Roman"/>
                <a:sym typeface="Times New Roman"/>
              </a:rPr>
              <a:t>This observations indicates the task is not strongly case-sensitive overall.</a:t>
            </a:r>
          </a:p>
          <a:p>
            <a:pPr algn="l">
              <a:lnSpc>
                <a:spcPts val="4480"/>
              </a:lnSpc>
            </a:pPr>
          </a:p>
          <a:p>
            <a:pPr algn="l" marL="690881" indent="-345440" lvl="1">
              <a:lnSpc>
                <a:spcPts val="4480"/>
              </a:lnSpc>
              <a:buFont typeface="Arial"/>
              <a:buChar char="•"/>
            </a:pPr>
            <a:r>
              <a:rPr lang="en-US" sz="3200">
                <a:solidFill>
                  <a:srgbClr val="000000"/>
                </a:solidFill>
                <a:latin typeface="Times New Roman"/>
                <a:ea typeface="Times New Roman"/>
                <a:cs typeface="Times New Roman"/>
                <a:sym typeface="Times New Roman"/>
              </a:rPr>
              <a:t>The limited improvements between cased and uncased indicate </a:t>
            </a:r>
            <a:r>
              <a:rPr lang="en-US" b="true" sz="3200">
                <a:solidFill>
                  <a:srgbClr val="000000"/>
                </a:solidFill>
                <a:latin typeface="Times New Roman Bold"/>
                <a:ea typeface="Times New Roman Bold"/>
                <a:cs typeface="Times New Roman Bold"/>
                <a:sym typeface="Times New Roman Bold"/>
              </a:rPr>
              <a:t>low improvement scope</a:t>
            </a:r>
            <a:r>
              <a:rPr lang="en-US" sz="3200">
                <a:solidFill>
                  <a:srgbClr val="000000"/>
                </a:solidFill>
                <a:latin typeface="Times New Roman"/>
                <a:ea typeface="Times New Roman"/>
                <a:cs typeface="Times New Roman"/>
                <a:sym typeface="Times New Roman"/>
              </a:rPr>
              <a:t> using traditional encoder-based models. </a:t>
            </a:r>
          </a:p>
          <a:p>
            <a:pPr algn="l">
              <a:lnSpc>
                <a:spcPts val="4480"/>
              </a:lnSpc>
            </a:pPr>
          </a:p>
          <a:p>
            <a:pPr algn="l" marL="690881" indent="-345440" lvl="1">
              <a:lnSpc>
                <a:spcPts val="4480"/>
              </a:lnSpc>
              <a:buFont typeface="Arial"/>
              <a:buChar char="•"/>
            </a:pPr>
            <a:r>
              <a:rPr lang="en-US" sz="3200">
                <a:solidFill>
                  <a:srgbClr val="000000"/>
                </a:solidFill>
                <a:latin typeface="Times New Roman"/>
                <a:ea typeface="Times New Roman"/>
                <a:cs typeface="Times New Roman"/>
                <a:sym typeface="Times New Roman"/>
              </a:rPr>
              <a:t>This motivated testing </a:t>
            </a:r>
            <a:r>
              <a:rPr lang="en-US" b="true" sz="3200">
                <a:solidFill>
                  <a:srgbClr val="000000"/>
                </a:solidFill>
                <a:latin typeface="Times New Roman Bold"/>
                <a:ea typeface="Times New Roman Bold"/>
                <a:cs typeface="Times New Roman Bold"/>
                <a:sym typeface="Times New Roman Bold"/>
              </a:rPr>
              <a:t>alternative modeling approaches</a:t>
            </a:r>
            <a:r>
              <a:rPr lang="en-US" sz="3200">
                <a:solidFill>
                  <a:srgbClr val="000000"/>
                </a:solidFill>
                <a:latin typeface="Times New Roman"/>
                <a:ea typeface="Times New Roman"/>
                <a:cs typeface="Times New Roman"/>
                <a:sym typeface="Times New Roman"/>
              </a:rPr>
              <a:t> that can better interpret tone, intent, and political framing.</a:t>
            </a:r>
          </a:p>
          <a:p>
            <a:pPr algn="l">
              <a:lnSpc>
                <a:spcPts val="4480"/>
              </a:lnSpc>
            </a:pPr>
          </a:p>
          <a:p>
            <a:pPr algn="l" marL="690881" indent="-345440" lvl="1">
              <a:lnSpc>
                <a:spcPts val="4480"/>
              </a:lnSpc>
              <a:buFont typeface="Arial"/>
              <a:buChar char="•"/>
            </a:pPr>
            <a:r>
              <a:rPr lang="en-US" sz="3200">
                <a:solidFill>
                  <a:srgbClr val="000000"/>
                </a:solidFill>
                <a:latin typeface="Times New Roman"/>
                <a:ea typeface="Times New Roman"/>
                <a:cs typeface="Times New Roman"/>
                <a:sym typeface="Times New Roman"/>
              </a:rPr>
              <a:t>Since mBERT was already the organizer-provided baseline and finetuned fully, switching to </a:t>
            </a:r>
            <a:r>
              <a:rPr lang="en-US" b="true" sz="3200">
                <a:solidFill>
                  <a:srgbClr val="000000"/>
                </a:solidFill>
                <a:latin typeface="Times New Roman Bold"/>
                <a:ea typeface="Times New Roman Bold"/>
                <a:cs typeface="Times New Roman Bold"/>
                <a:sym typeface="Times New Roman Bold"/>
              </a:rPr>
              <a:t>different model families</a:t>
            </a:r>
            <a:r>
              <a:rPr lang="en-US" sz="3200">
                <a:solidFill>
                  <a:srgbClr val="000000"/>
                </a:solidFill>
                <a:latin typeface="Times New Roman"/>
                <a:ea typeface="Times New Roman"/>
                <a:cs typeface="Times New Roman"/>
                <a:sym typeface="Times New Roman"/>
              </a:rPr>
              <a:t> (LLMs) became a logical next step.</a:t>
            </a:r>
          </a:p>
          <a:p>
            <a:pPr algn="l">
              <a:lnSpc>
                <a:spcPts val="4759"/>
              </a:lnSpc>
            </a:pPr>
          </a:p>
        </p:txBody>
      </p:sp>
    </p:spTree>
  </p:cSld>
  <p:clrMapOvr>
    <a:masterClrMapping/>
  </p:clrMapOvr>
</p:sld>
</file>

<file path=ppt/slides/slide8.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0" y="537527"/>
            <a:ext cx="11381334" cy="887095"/>
          </a:xfrm>
          <a:prstGeom prst="rect">
            <a:avLst/>
          </a:prstGeom>
        </p:spPr>
        <p:txBody>
          <a:bodyPr anchor="t" rtlCol="false" tIns="0" lIns="0" bIns="0" rIns="0">
            <a:spAutoFit/>
          </a:bodyPr>
          <a:lstStyle/>
          <a:p>
            <a:pPr algn="ctr">
              <a:lnSpc>
                <a:spcPts val="7279"/>
              </a:lnSpc>
            </a:pPr>
            <a:r>
              <a:rPr lang="en-US" sz="5199" b="true">
                <a:solidFill>
                  <a:srgbClr val="000000"/>
                </a:solidFill>
                <a:latin typeface="Canva Sans Bold"/>
                <a:ea typeface="Canva Sans Bold"/>
                <a:cs typeface="Canva Sans Bold"/>
                <a:sym typeface="Canva Sans Bold"/>
              </a:rPr>
              <a:t>Baseline 2: Zero-Shot</a:t>
            </a:r>
            <a:r>
              <a:rPr lang="en-US" b="true" sz="5199">
                <a:solidFill>
                  <a:srgbClr val="000000"/>
                </a:solidFill>
                <a:latin typeface="Canva Sans Bold"/>
                <a:ea typeface="Canva Sans Bold"/>
                <a:cs typeface="Canva Sans Bold"/>
                <a:sym typeface="Canva Sans Bold"/>
              </a:rPr>
              <a:t> LLM Model</a:t>
            </a:r>
          </a:p>
        </p:txBody>
      </p:sp>
      <p:sp>
        <p:nvSpPr>
          <p:cNvPr name="TextBox 3" id="3"/>
          <p:cNvSpPr txBox="true"/>
          <p:nvPr/>
        </p:nvSpPr>
        <p:spPr>
          <a:xfrm rot="0">
            <a:off x="497939" y="1782579"/>
            <a:ext cx="17790061" cy="7907655"/>
          </a:xfrm>
          <a:prstGeom prst="rect">
            <a:avLst/>
          </a:prstGeom>
        </p:spPr>
        <p:txBody>
          <a:bodyPr anchor="t" rtlCol="false" tIns="0" lIns="0" bIns="0" rIns="0">
            <a:spAutoFit/>
          </a:bodyPr>
          <a:lstStyle/>
          <a:p>
            <a:pPr algn="l">
              <a:lnSpc>
                <a:spcPts val="4480"/>
              </a:lnSpc>
            </a:pPr>
            <a:r>
              <a:rPr lang="en-US" sz="3200" b="true">
                <a:solidFill>
                  <a:srgbClr val="000000"/>
                </a:solidFill>
                <a:latin typeface="Times New Roman Bold"/>
                <a:ea typeface="Times New Roman Bold"/>
                <a:cs typeface="Times New Roman Bold"/>
                <a:sym typeface="Times New Roman Bold"/>
              </a:rPr>
              <a:t>Mo</a:t>
            </a:r>
            <a:r>
              <a:rPr lang="en-US" sz="3200" b="true">
                <a:solidFill>
                  <a:srgbClr val="000000"/>
                </a:solidFill>
                <a:latin typeface="Times New Roman Bold"/>
                <a:ea typeface="Times New Roman Bold"/>
                <a:cs typeface="Times New Roman Bold"/>
                <a:sym typeface="Times New Roman Bold"/>
              </a:rPr>
              <a:t>del Overview</a:t>
            </a:r>
          </a:p>
          <a:p>
            <a:pPr algn="l">
              <a:lnSpc>
                <a:spcPts val="4480"/>
              </a:lnSpc>
            </a:pPr>
            <a:r>
              <a:rPr lang="en-US" sz="3200">
                <a:solidFill>
                  <a:srgbClr val="000000"/>
                </a:solidFill>
                <a:latin typeface="Times New Roman"/>
                <a:ea typeface="Times New Roman"/>
                <a:cs typeface="Times New Roman"/>
                <a:sym typeface="Times New Roman"/>
              </a:rPr>
              <a:t>GPT-4o-mini is a modern instruction-following LLM capable of zero-shot classification without any fine-tuning.</a:t>
            </a:r>
          </a:p>
          <a:p>
            <a:pPr algn="l">
              <a:lnSpc>
                <a:spcPts val="4480"/>
              </a:lnSpc>
            </a:pPr>
            <a:r>
              <a:rPr lang="en-US" sz="3200" b="true">
                <a:solidFill>
                  <a:srgbClr val="000000"/>
                </a:solidFill>
                <a:latin typeface="Times New Roman Bold"/>
                <a:ea typeface="Times New Roman Bold"/>
                <a:cs typeface="Times New Roman Bold"/>
                <a:sym typeface="Times New Roman Bold"/>
              </a:rPr>
              <a:t> </a:t>
            </a:r>
            <a:r>
              <a:rPr lang="en-US" sz="3200">
                <a:solidFill>
                  <a:srgbClr val="000000"/>
                </a:solidFill>
                <a:latin typeface="Times New Roman"/>
                <a:ea typeface="Times New Roman"/>
                <a:cs typeface="Times New Roman"/>
                <a:sym typeface="Times New Roman"/>
              </a:rPr>
              <a:t>It can interpret political or social context better than classic encoders like BERT.</a:t>
            </a:r>
          </a:p>
          <a:p>
            <a:pPr algn="l">
              <a:lnSpc>
                <a:spcPts val="4480"/>
              </a:lnSpc>
            </a:pPr>
          </a:p>
          <a:p>
            <a:pPr algn="l">
              <a:lnSpc>
                <a:spcPts val="4480"/>
              </a:lnSpc>
            </a:pPr>
            <a:r>
              <a:rPr lang="en-US" sz="3200" b="true">
                <a:solidFill>
                  <a:srgbClr val="000000"/>
                </a:solidFill>
                <a:latin typeface="Times New Roman Bold"/>
                <a:ea typeface="Times New Roman Bold"/>
                <a:cs typeface="Times New Roman Bold"/>
                <a:sym typeface="Times New Roman Bold"/>
              </a:rPr>
              <a:t>Implementation</a:t>
            </a:r>
          </a:p>
          <a:p>
            <a:pPr algn="l" marL="690881" indent="-345440" lvl="1">
              <a:lnSpc>
                <a:spcPts val="4480"/>
              </a:lnSpc>
              <a:buFont typeface="Arial"/>
              <a:buChar char="•"/>
            </a:pPr>
            <a:r>
              <a:rPr lang="en-US" sz="3200">
                <a:solidFill>
                  <a:srgbClr val="000000"/>
                </a:solidFill>
                <a:latin typeface="Times New Roman"/>
                <a:ea typeface="Times New Roman"/>
                <a:cs typeface="Times New Roman"/>
                <a:sym typeface="Times New Roman"/>
              </a:rPr>
              <a:t>Designed a structured classification prompt instructing the LLM to output only 0/1.</a:t>
            </a:r>
          </a:p>
          <a:p>
            <a:pPr algn="l" marL="690881" indent="-345440" lvl="1">
              <a:lnSpc>
                <a:spcPts val="4480"/>
              </a:lnSpc>
              <a:buFont typeface="Arial"/>
              <a:buChar char="•"/>
            </a:pPr>
            <a:r>
              <a:rPr lang="en-US" sz="3200">
                <a:solidFill>
                  <a:srgbClr val="000000"/>
                </a:solidFill>
                <a:latin typeface="Times New Roman"/>
                <a:ea typeface="Times New Roman"/>
                <a:cs typeface="Times New Roman"/>
                <a:sym typeface="Times New Roman"/>
              </a:rPr>
              <a:t>Evaluated only on English due to cost and latency constraints.</a:t>
            </a:r>
          </a:p>
          <a:p>
            <a:pPr algn="l" marL="690881" indent="-345440" lvl="1">
              <a:lnSpc>
                <a:spcPts val="4480"/>
              </a:lnSpc>
              <a:buFont typeface="Arial"/>
              <a:buChar char="•"/>
            </a:pPr>
            <a:r>
              <a:rPr lang="en-US" sz="3200">
                <a:solidFill>
                  <a:srgbClr val="000000"/>
                </a:solidFill>
                <a:latin typeface="Times New Roman"/>
                <a:ea typeface="Times New Roman"/>
                <a:cs typeface="Times New Roman"/>
                <a:sym typeface="Times New Roman"/>
              </a:rPr>
              <a:t>Processed the entire dev s</a:t>
            </a:r>
            <a:r>
              <a:rPr lang="en-US" sz="3200">
                <a:solidFill>
                  <a:srgbClr val="000000"/>
                </a:solidFill>
                <a:latin typeface="Times New Roman"/>
                <a:ea typeface="Times New Roman"/>
                <a:cs typeface="Times New Roman"/>
                <a:sym typeface="Times New Roman"/>
              </a:rPr>
              <a:t>et, producing a submission-ready file.</a:t>
            </a:r>
          </a:p>
          <a:p>
            <a:pPr algn="l">
              <a:lnSpc>
                <a:spcPts val="4480"/>
              </a:lnSpc>
            </a:pPr>
          </a:p>
          <a:p>
            <a:pPr algn="l">
              <a:lnSpc>
                <a:spcPts val="4480"/>
              </a:lnSpc>
            </a:pPr>
            <a:r>
              <a:rPr lang="en-US" sz="3200" b="true">
                <a:solidFill>
                  <a:srgbClr val="000000"/>
                </a:solidFill>
                <a:latin typeface="Times New Roman Bold"/>
                <a:ea typeface="Times New Roman Bold"/>
                <a:cs typeface="Times New Roman Bold"/>
                <a:sym typeface="Times New Roman Bold"/>
              </a:rPr>
              <a:t>Why This Matters</a:t>
            </a:r>
          </a:p>
          <a:p>
            <a:pPr algn="l" marL="690881" indent="-345440" lvl="1">
              <a:lnSpc>
                <a:spcPts val="4480"/>
              </a:lnSpc>
              <a:buFont typeface="Arial"/>
              <a:buChar char="•"/>
            </a:pPr>
            <a:r>
              <a:rPr lang="en-US" sz="3200">
                <a:solidFill>
                  <a:srgbClr val="000000"/>
                </a:solidFill>
                <a:latin typeface="Times New Roman"/>
                <a:ea typeface="Times New Roman"/>
                <a:cs typeface="Times New Roman"/>
                <a:sym typeface="Times New Roman"/>
              </a:rPr>
              <a:t>Zero-shot LLMs require no training, making them ideal when compute is limited.</a:t>
            </a:r>
          </a:p>
          <a:p>
            <a:pPr algn="l" marL="690881" indent="-345440" lvl="1">
              <a:lnSpc>
                <a:spcPts val="4480"/>
              </a:lnSpc>
              <a:buFont typeface="Arial"/>
              <a:buChar char="•"/>
            </a:pPr>
            <a:r>
              <a:rPr lang="en-US" sz="3200">
                <a:solidFill>
                  <a:srgbClr val="000000"/>
                </a:solidFill>
                <a:latin typeface="Times New Roman"/>
                <a:ea typeface="Times New Roman"/>
                <a:cs typeface="Times New Roman"/>
                <a:sym typeface="Times New Roman"/>
              </a:rPr>
              <a:t>They understand nuanced political cues, idioms, sarcasm, and implicit hostility better than mBERT.</a:t>
            </a:r>
          </a:p>
          <a:p>
            <a:pPr algn="l">
              <a:lnSpc>
                <a:spcPts val="4759"/>
              </a:lnSpc>
            </a:pP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3168513" y="1514624"/>
            <a:ext cx="11396462" cy="7820822"/>
          </a:xfrm>
          <a:custGeom>
            <a:avLst/>
            <a:gdLst/>
            <a:ahLst/>
            <a:cxnLst/>
            <a:rect r="r" b="b" t="t" l="l"/>
            <a:pathLst>
              <a:path h="7820822" w="11396462">
                <a:moveTo>
                  <a:pt x="0" y="0"/>
                </a:moveTo>
                <a:lnTo>
                  <a:pt x="11396462" y="0"/>
                </a:lnTo>
                <a:lnTo>
                  <a:pt x="11396462" y="7820822"/>
                </a:lnTo>
                <a:lnTo>
                  <a:pt x="0" y="7820822"/>
                </a:lnTo>
                <a:lnTo>
                  <a:pt x="0" y="0"/>
                </a:lnTo>
                <a:close/>
              </a:path>
            </a:pathLst>
          </a:custGeom>
          <a:blipFill>
            <a:blip r:embed="rId2"/>
            <a:stretch>
              <a:fillRect l="0" t="0" r="0" b="0"/>
            </a:stretch>
          </a:blipFill>
        </p:spPr>
      </p:sp>
      <p:sp>
        <p:nvSpPr>
          <p:cNvPr name="TextBox 3" id="3"/>
          <p:cNvSpPr txBox="true"/>
          <p:nvPr/>
        </p:nvSpPr>
        <p:spPr>
          <a:xfrm rot="0">
            <a:off x="-3680789" y="377680"/>
            <a:ext cx="11396462" cy="887095"/>
          </a:xfrm>
          <a:prstGeom prst="rect">
            <a:avLst/>
          </a:prstGeom>
        </p:spPr>
        <p:txBody>
          <a:bodyPr anchor="t" rtlCol="false" tIns="0" lIns="0" bIns="0" rIns="0">
            <a:spAutoFit/>
          </a:bodyPr>
          <a:lstStyle/>
          <a:p>
            <a:pPr algn="ctr">
              <a:lnSpc>
                <a:spcPts val="7279"/>
              </a:lnSpc>
              <a:spcBef>
                <a:spcPct val="0"/>
              </a:spcBef>
            </a:pPr>
            <a:r>
              <a:rPr lang="en-US" b="true" sz="5199">
                <a:solidFill>
                  <a:srgbClr val="000000"/>
                </a:solidFill>
                <a:latin typeface="Canva Sans Bold"/>
                <a:ea typeface="Canva Sans Bold"/>
                <a:cs typeface="Canva Sans Bold"/>
                <a:sym typeface="Canva Sans Bold"/>
              </a:rPr>
              <a:t>Results</a:t>
            </a:r>
          </a:p>
        </p:txBody>
      </p:sp>
    </p:spTree>
  </p:cSld>
  <p:clrMapOvr>
    <a:masterClrMapping/>
  </p:clrMapOvr>
</p:sld>
</file>

<file path=ppt/slides/slide10.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0" y="537527"/>
            <a:ext cx="11381334" cy="887095"/>
          </a:xfrm>
          <a:prstGeom prst="rect">
            <a:avLst/>
          </a:prstGeom>
        </p:spPr>
        <p:txBody>
          <a:bodyPr anchor="t" rtlCol="false" tIns="0" lIns="0" bIns="0" rIns="0">
            <a:spAutoFit/>
          </a:bodyPr>
          <a:lstStyle/>
          <a:p>
            <a:pPr algn="ctr">
              <a:lnSpc>
                <a:spcPts val="7279"/>
              </a:lnSpc>
            </a:pPr>
            <a:r>
              <a:rPr lang="en-US" sz="5199" b="true">
                <a:solidFill>
                  <a:srgbClr val="000000"/>
                </a:solidFill>
                <a:latin typeface="Canva Sans Bold"/>
                <a:ea typeface="Canva Sans Bold"/>
                <a:cs typeface="Canva Sans Bold"/>
                <a:sym typeface="Canva Sans Bold"/>
              </a:rPr>
              <a:t>Baseline 2: Zero-Shot</a:t>
            </a:r>
            <a:r>
              <a:rPr lang="en-US" b="true" sz="5199">
                <a:solidFill>
                  <a:srgbClr val="000000"/>
                </a:solidFill>
                <a:latin typeface="Canva Sans Bold"/>
                <a:ea typeface="Canva Sans Bold"/>
                <a:cs typeface="Canva Sans Bold"/>
                <a:sym typeface="Canva Sans Bold"/>
              </a:rPr>
              <a:t> LLM Model</a:t>
            </a:r>
          </a:p>
        </p:txBody>
      </p:sp>
      <p:sp>
        <p:nvSpPr>
          <p:cNvPr name="TextBox 3" id="3"/>
          <p:cNvSpPr txBox="true"/>
          <p:nvPr/>
        </p:nvSpPr>
        <p:spPr>
          <a:xfrm rot="0">
            <a:off x="497939" y="1824220"/>
            <a:ext cx="17790061" cy="9727565"/>
          </a:xfrm>
          <a:prstGeom prst="rect">
            <a:avLst/>
          </a:prstGeom>
        </p:spPr>
        <p:txBody>
          <a:bodyPr anchor="t" rtlCol="false" tIns="0" lIns="0" bIns="0" rIns="0">
            <a:spAutoFit/>
          </a:bodyPr>
          <a:lstStyle/>
          <a:p>
            <a:pPr algn="l">
              <a:lnSpc>
                <a:spcPts val="5459"/>
              </a:lnSpc>
            </a:pPr>
            <a:r>
              <a:rPr lang="en-US" sz="3899" b="true">
                <a:solidFill>
                  <a:srgbClr val="000000"/>
                </a:solidFill>
                <a:latin typeface="Times New Roman Bold"/>
                <a:ea typeface="Times New Roman Bold"/>
                <a:cs typeface="Times New Roman Bold"/>
                <a:sym typeface="Times New Roman Bold"/>
              </a:rPr>
              <a:t>Observations</a:t>
            </a:r>
          </a:p>
          <a:p>
            <a:pPr algn="l">
              <a:lnSpc>
                <a:spcPts val="4480"/>
              </a:lnSpc>
            </a:pPr>
          </a:p>
          <a:p>
            <a:pPr algn="l" marL="690881" indent="-345440" lvl="1">
              <a:lnSpc>
                <a:spcPts val="4480"/>
              </a:lnSpc>
              <a:buFont typeface="Arial"/>
              <a:buChar char="•"/>
            </a:pPr>
            <a:r>
              <a:rPr lang="en-US" b="true" sz="3200">
                <a:solidFill>
                  <a:srgbClr val="000000"/>
                </a:solidFill>
                <a:latin typeface="Times New Roman Bold"/>
                <a:ea typeface="Times New Roman Bold"/>
                <a:cs typeface="Times New Roman Bold"/>
                <a:sym typeface="Times New Roman Bold"/>
              </a:rPr>
              <a:t>Zero-shot LLM performs surprisingly close to mBERT without training</a:t>
            </a:r>
            <a:r>
              <a:rPr lang="en-US" sz="3200">
                <a:solidFill>
                  <a:srgbClr val="000000"/>
                </a:solidFill>
                <a:latin typeface="Times New Roman"/>
                <a:ea typeface="Times New Roman"/>
                <a:cs typeface="Times New Roman"/>
                <a:sym typeface="Times New Roman"/>
              </a:rPr>
              <a:t>, achieving ~0.74 F1 on English.</a:t>
            </a:r>
          </a:p>
          <a:p>
            <a:pPr algn="l">
              <a:lnSpc>
                <a:spcPts val="4480"/>
              </a:lnSpc>
            </a:pPr>
          </a:p>
          <a:p>
            <a:pPr algn="l" marL="690881" indent="-345440" lvl="1">
              <a:lnSpc>
                <a:spcPts val="4480"/>
              </a:lnSpc>
              <a:buFont typeface="Arial"/>
              <a:buChar char="•"/>
            </a:pPr>
            <a:r>
              <a:rPr lang="en-US" sz="3200">
                <a:solidFill>
                  <a:srgbClr val="000000"/>
                </a:solidFill>
                <a:latin typeface="Times New Roman"/>
                <a:ea typeface="Times New Roman"/>
                <a:cs typeface="Times New Roman"/>
                <a:sym typeface="Times New Roman"/>
              </a:rPr>
              <a:t>The model produced extremely high recall but lower precision.</a:t>
            </a:r>
          </a:p>
          <a:p>
            <a:pPr algn="l">
              <a:lnSpc>
                <a:spcPts val="4480"/>
              </a:lnSpc>
            </a:pPr>
          </a:p>
          <a:p>
            <a:pPr algn="l" marL="690881" indent="-345440" lvl="1">
              <a:lnSpc>
                <a:spcPts val="4480"/>
              </a:lnSpc>
              <a:buFont typeface="Arial"/>
              <a:buChar char="•"/>
            </a:pPr>
            <a:r>
              <a:rPr lang="en-US" sz="3200">
                <a:solidFill>
                  <a:srgbClr val="000000"/>
                </a:solidFill>
                <a:latin typeface="Times New Roman"/>
                <a:ea typeface="Times New Roman"/>
                <a:cs typeface="Times New Roman"/>
                <a:sym typeface="Times New Roman"/>
              </a:rPr>
              <a:t> It successfully catches most polarized texts but misclassifies neutral political statements as polarized.This means the model is sensitive but not well-calibrated.</a:t>
            </a:r>
          </a:p>
          <a:p>
            <a:pPr algn="l">
              <a:lnSpc>
                <a:spcPts val="4480"/>
              </a:lnSpc>
            </a:pPr>
          </a:p>
          <a:p>
            <a:pPr algn="l" marL="690881" indent="-345440" lvl="1">
              <a:lnSpc>
                <a:spcPts val="4480"/>
              </a:lnSpc>
              <a:buFont typeface="Arial"/>
              <a:buChar char="•"/>
            </a:pPr>
            <a:r>
              <a:rPr lang="en-US" sz="3200">
                <a:solidFill>
                  <a:srgbClr val="000000"/>
                </a:solidFill>
                <a:latin typeface="Times New Roman"/>
                <a:ea typeface="Times New Roman"/>
                <a:cs typeface="Times New Roman"/>
                <a:sym typeface="Times New Roman"/>
              </a:rPr>
              <a:t>However, the model understands complex phrasing, sarcasm, and implied hostility better than BERT.</a:t>
            </a:r>
          </a:p>
          <a:p>
            <a:pPr algn="l">
              <a:lnSpc>
                <a:spcPts val="4480"/>
              </a:lnSpc>
            </a:pPr>
          </a:p>
          <a:p>
            <a:pPr algn="l">
              <a:lnSpc>
                <a:spcPts val="4480"/>
              </a:lnSpc>
            </a:pPr>
          </a:p>
          <a:p>
            <a:pPr algn="l">
              <a:lnSpc>
                <a:spcPts val="4480"/>
              </a:lnSpc>
            </a:pPr>
          </a:p>
          <a:p>
            <a:pPr algn="l">
              <a:lnSpc>
                <a:spcPts val="4480"/>
              </a:lnSpc>
            </a:pPr>
          </a:p>
          <a:p>
            <a:pPr algn="l">
              <a:lnSpc>
                <a:spcPts val="4480"/>
              </a:lnSpc>
            </a:pPr>
          </a:p>
          <a:p>
            <a:pPr algn="l">
              <a:lnSpc>
                <a:spcPts val="4759"/>
              </a:lnSpc>
            </a:pPr>
          </a:p>
        </p:txBody>
      </p:sp>
    </p:spTree>
  </p:cSld>
  <p:clrMapOvr>
    <a:masterClrMapping/>
  </p:clrMapOvr>
</p:sld>
</file>

<file path=ppt/slides/slide11.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0" y="537527"/>
            <a:ext cx="11381334" cy="887095"/>
          </a:xfrm>
          <a:prstGeom prst="rect">
            <a:avLst/>
          </a:prstGeom>
        </p:spPr>
        <p:txBody>
          <a:bodyPr anchor="t" rtlCol="false" tIns="0" lIns="0" bIns="0" rIns="0">
            <a:spAutoFit/>
          </a:bodyPr>
          <a:lstStyle/>
          <a:p>
            <a:pPr algn="ctr">
              <a:lnSpc>
                <a:spcPts val="7279"/>
              </a:lnSpc>
            </a:pPr>
            <a:r>
              <a:rPr lang="en-US" sz="5199" b="true">
                <a:solidFill>
                  <a:srgbClr val="000000"/>
                </a:solidFill>
                <a:latin typeface="Canva Sans Bold"/>
                <a:ea typeface="Canva Sans Bold"/>
                <a:cs typeface="Canva Sans Bold"/>
                <a:sym typeface="Canva Sans Bold"/>
              </a:rPr>
              <a:t>Baseline 2: Zero-Shot</a:t>
            </a:r>
            <a:r>
              <a:rPr lang="en-US" b="true" sz="5199">
                <a:solidFill>
                  <a:srgbClr val="000000"/>
                </a:solidFill>
                <a:latin typeface="Canva Sans Bold"/>
                <a:ea typeface="Canva Sans Bold"/>
                <a:cs typeface="Canva Sans Bold"/>
                <a:sym typeface="Canva Sans Bold"/>
              </a:rPr>
              <a:t> LLM Model</a:t>
            </a:r>
          </a:p>
        </p:txBody>
      </p:sp>
      <p:sp>
        <p:nvSpPr>
          <p:cNvPr name="TextBox 3" id="3"/>
          <p:cNvSpPr txBox="true"/>
          <p:nvPr/>
        </p:nvSpPr>
        <p:spPr>
          <a:xfrm rot="0">
            <a:off x="497939" y="1778635"/>
            <a:ext cx="17790061" cy="7479665"/>
          </a:xfrm>
          <a:prstGeom prst="rect">
            <a:avLst/>
          </a:prstGeom>
        </p:spPr>
        <p:txBody>
          <a:bodyPr anchor="t" rtlCol="false" tIns="0" lIns="0" bIns="0" rIns="0">
            <a:spAutoFit/>
          </a:bodyPr>
          <a:lstStyle/>
          <a:p>
            <a:pPr algn="l">
              <a:lnSpc>
                <a:spcPts val="5459"/>
              </a:lnSpc>
            </a:pPr>
            <a:r>
              <a:rPr lang="en-US" sz="3899" b="true">
                <a:solidFill>
                  <a:srgbClr val="000000"/>
                </a:solidFill>
                <a:latin typeface="Times New Roman Bold"/>
                <a:ea typeface="Times New Roman Bold"/>
                <a:cs typeface="Times New Roman Bold"/>
                <a:sym typeface="Times New Roman Bold"/>
              </a:rPr>
              <a:t>Conclusion</a:t>
            </a:r>
          </a:p>
          <a:p>
            <a:pPr algn="l">
              <a:lnSpc>
                <a:spcPts val="4480"/>
              </a:lnSpc>
            </a:pPr>
          </a:p>
          <a:p>
            <a:pPr algn="l" marL="690881" indent="-345440" lvl="1">
              <a:lnSpc>
                <a:spcPts val="4480"/>
              </a:lnSpc>
              <a:buFont typeface="Arial"/>
              <a:buChar char="•"/>
            </a:pPr>
            <a:r>
              <a:rPr lang="en-US" sz="3200">
                <a:solidFill>
                  <a:srgbClr val="000000"/>
                </a:solidFill>
                <a:latin typeface="Times New Roman"/>
                <a:ea typeface="Times New Roman"/>
                <a:cs typeface="Times New Roman"/>
                <a:sym typeface="Times New Roman"/>
              </a:rPr>
              <a:t>Zero-shot performance indicates there is room for improvement using prompting alone—without any additional training.</a:t>
            </a:r>
          </a:p>
          <a:p>
            <a:pPr algn="l">
              <a:lnSpc>
                <a:spcPts val="4480"/>
              </a:lnSpc>
            </a:pPr>
          </a:p>
          <a:p>
            <a:pPr algn="l" marL="690881" indent="-345440" lvl="1">
              <a:lnSpc>
                <a:spcPts val="4480"/>
              </a:lnSpc>
              <a:buFont typeface="Arial"/>
              <a:buChar char="•"/>
            </a:pPr>
            <a:r>
              <a:rPr lang="en-US" sz="3200">
                <a:solidFill>
                  <a:srgbClr val="000000"/>
                </a:solidFill>
                <a:latin typeface="Times New Roman"/>
                <a:ea typeface="Times New Roman"/>
                <a:cs typeface="Times New Roman"/>
                <a:sym typeface="Times New Roman"/>
              </a:rPr>
              <a:t>This</a:t>
            </a:r>
            <a:r>
              <a:rPr lang="en-US" sz="3200">
                <a:solidFill>
                  <a:srgbClr val="000000"/>
                </a:solidFill>
                <a:latin typeface="Times New Roman"/>
                <a:ea typeface="Times New Roman"/>
                <a:cs typeface="Times New Roman"/>
                <a:sym typeface="Times New Roman"/>
              </a:rPr>
              <a:t> naturally leads to few-shot prompting as the next step to reduce misclassifications and align with annotation guidelines.</a:t>
            </a:r>
          </a:p>
          <a:p>
            <a:pPr algn="l">
              <a:lnSpc>
                <a:spcPts val="4480"/>
              </a:lnSpc>
            </a:pPr>
          </a:p>
          <a:p>
            <a:pPr algn="l">
              <a:lnSpc>
                <a:spcPts val="4480"/>
              </a:lnSpc>
            </a:pPr>
          </a:p>
          <a:p>
            <a:pPr algn="l">
              <a:lnSpc>
                <a:spcPts val="4480"/>
              </a:lnSpc>
            </a:pPr>
          </a:p>
          <a:p>
            <a:pPr algn="l">
              <a:lnSpc>
                <a:spcPts val="4480"/>
              </a:lnSpc>
            </a:pPr>
          </a:p>
          <a:p>
            <a:pPr algn="l">
              <a:lnSpc>
                <a:spcPts val="4480"/>
              </a:lnSpc>
            </a:pPr>
          </a:p>
          <a:p>
            <a:pPr algn="l">
              <a:lnSpc>
                <a:spcPts val="4759"/>
              </a:lnSpc>
            </a:pPr>
          </a:p>
        </p:txBody>
      </p:sp>
    </p:spTree>
  </p:cSld>
  <p:clrMapOvr>
    <a:masterClrMapping/>
  </p:clrMapOvr>
</p:sld>
</file>

<file path=ppt/slides/slide12.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1769812" y="141605"/>
            <a:ext cx="13886653" cy="887095"/>
          </a:xfrm>
          <a:prstGeom prst="rect">
            <a:avLst/>
          </a:prstGeom>
        </p:spPr>
        <p:txBody>
          <a:bodyPr anchor="t" rtlCol="false" tIns="0" lIns="0" bIns="0" rIns="0">
            <a:spAutoFit/>
          </a:bodyPr>
          <a:lstStyle/>
          <a:p>
            <a:pPr algn="ctr">
              <a:lnSpc>
                <a:spcPts val="7279"/>
              </a:lnSpc>
            </a:pPr>
            <a:r>
              <a:rPr lang="en-US" sz="5199" b="true">
                <a:solidFill>
                  <a:srgbClr val="000000"/>
                </a:solidFill>
                <a:latin typeface="Canva Sans Bold"/>
                <a:ea typeface="Canva Sans Bold"/>
                <a:cs typeface="Canva Sans Bold"/>
                <a:sym typeface="Canva Sans Bold"/>
              </a:rPr>
              <a:t>Improvement: Few-Shot</a:t>
            </a:r>
            <a:r>
              <a:rPr lang="en-US" b="true" sz="5199">
                <a:solidFill>
                  <a:srgbClr val="000000"/>
                </a:solidFill>
                <a:latin typeface="Canva Sans Bold"/>
                <a:ea typeface="Canva Sans Bold"/>
                <a:cs typeface="Canva Sans Bold"/>
                <a:sym typeface="Canva Sans Bold"/>
              </a:rPr>
              <a:t> LLM</a:t>
            </a:r>
          </a:p>
        </p:txBody>
      </p:sp>
      <p:sp>
        <p:nvSpPr>
          <p:cNvPr name="TextBox 3" id="3"/>
          <p:cNvSpPr txBox="true"/>
          <p:nvPr/>
        </p:nvSpPr>
        <p:spPr>
          <a:xfrm rot="0">
            <a:off x="497939" y="1217131"/>
            <a:ext cx="17790061" cy="10155555"/>
          </a:xfrm>
          <a:prstGeom prst="rect">
            <a:avLst/>
          </a:prstGeom>
        </p:spPr>
        <p:txBody>
          <a:bodyPr anchor="t" rtlCol="false" tIns="0" lIns="0" bIns="0" rIns="0">
            <a:spAutoFit/>
          </a:bodyPr>
          <a:lstStyle/>
          <a:p>
            <a:pPr algn="l">
              <a:lnSpc>
                <a:spcPts val="4480"/>
              </a:lnSpc>
            </a:pPr>
            <a:r>
              <a:rPr lang="en-US" sz="3200" b="true">
                <a:solidFill>
                  <a:srgbClr val="000000"/>
                </a:solidFill>
                <a:latin typeface="Times New Roman Bold"/>
                <a:ea typeface="Times New Roman Bold"/>
                <a:cs typeface="Times New Roman Bold"/>
                <a:sym typeface="Times New Roman Bold"/>
              </a:rPr>
              <a:t>Mo</a:t>
            </a:r>
            <a:r>
              <a:rPr lang="en-US" sz="3200" b="true">
                <a:solidFill>
                  <a:srgbClr val="000000"/>
                </a:solidFill>
                <a:latin typeface="Times New Roman Bold"/>
                <a:ea typeface="Times New Roman Bold"/>
                <a:cs typeface="Times New Roman Bold"/>
                <a:sym typeface="Times New Roman Bold"/>
              </a:rPr>
              <a:t>del Overview</a:t>
            </a:r>
          </a:p>
          <a:p>
            <a:pPr algn="l">
              <a:lnSpc>
                <a:spcPts val="4480"/>
              </a:lnSpc>
            </a:pPr>
            <a:r>
              <a:rPr lang="en-US" sz="3200">
                <a:solidFill>
                  <a:srgbClr val="000000"/>
                </a:solidFill>
                <a:latin typeface="Times New Roman"/>
                <a:ea typeface="Times New Roman"/>
                <a:cs typeface="Times New Roman"/>
                <a:sym typeface="Times New Roman"/>
              </a:rPr>
              <a:t>Few-shot prompting demonstrates patterns of polarized vs. non-polarized text directly inside the prompt. The LLM learns the task boundaries from examples</a:t>
            </a:r>
            <a:r>
              <a:rPr lang="en-US" sz="3200" b="true">
                <a:solidFill>
                  <a:srgbClr val="000000"/>
                </a:solidFill>
                <a:latin typeface="Times New Roman Bold"/>
                <a:ea typeface="Times New Roman Bold"/>
                <a:cs typeface="Times New Roman Bold"/>
                <a:sym typeface="Times New Roman Bold"/>
              </a:rPr>
              <a:t>.</a:t>
            </a:r>
          </a:p>
          <a:p>
            <a:pPr algn="l">
              <a:lnSpc>
                <a:spcPts val="4480"/>
              </a:lnSpc>
            </a:pPr>
          </a:p>
          <a:p>
            <a:pPr algn="l">
              <a:lnSpc>
                <a:spcPts val="4480"/>
              </a:lnSpc>
            </a:pPr>
            <a:r>
              <a:rPr lang="en-US" sz="3200" b="true">
                <a:solidFill>
                  <a:srgbClr val="000000"/>
                </a:solidFill>
                <a:latin typeface="Times New Roman Bold"/>
                <a:ea typeface="Times New Roman Bold"/>
                <a:cs typeface="Times New Roman Bold"/>
                <a:sym typeface="Times New Roman Bold"/>
              </a:rPr>
              <a:t>Implementation</a:t>
            </a:r>
          </a:p>
          <a:p>
            <a:pPr algn="l" marL="690881" indent="-345440" lvl="1">
              <a:lnSpc>
                <a:spcPts val="4480"/>
              </a:lnSpc>
              <a:buFont typeface="Arial"/>
              <a:buChar char="•"/>
            </a:pPr>
            <a:r>
              <a:rPr lang="en-US" sz="3200">
                <a:solidFill>
                  <a:srgbClr val="000000"/>
                </a:solidFill>
                <a:latin typeface="Times New Roman"/>
                <a:ea typeface="Times New Roman"/>
                <a:cs typeface="Times New Roman"/>
                <a:sym typeface="Times New Roman"/>
              </a:rPr>
              <a:t>Added 3–5 carefully curated labeled examples directly into the prompt.</a:t>
            </a:r>
          </a:p>
          <a:p>
            <a:pPr algn="l" marL="690881" indent="-345440" lvl="1">
              <a:lnSpc>
                <a:spcPts val="4480"/>
              </a:lnSpc>
              <a:buFont typeface="Arial"/>
              <a:buChar char="•"/>
            </a:pPr>
            <a:r>
              <a:rPr lang="en-US" sz="3200">
                <a:solidFill>
                  <a:srgbClr val="000000"/>
                </a:solidFill>
                <a:latin typeface="Times New Roman"/>
                <a:ea typeface="Times New Roman"/>
                <a:cs typeface="Times New Roman"/>
                <a:sym typeface="Times New Roman"/>
              </a:rPr>
              <a:t>Each example followed the exact format of the dataset:</a:t>
            </a:r>
          </a:p>
          <a:p>
            <a:pPr algn="l" marL="1381761" indent="-460587" lvl="2">
              <a:lnSpc>
                <a:spcPts val="4480"/>
              </a:lnSpc>
              <a:buFont typeface="Arial"/>
              <a:buChar char="⚬"/>
            </a:pPr>
            <a:r>
              <a:rPr lang="en-US" sz="3200">
                <a:solidFill>
                  <a:srgbClr val="000000"/>
                </a:solidFill>
                <a:latin typeface="Times New Roman"/>
                <a:ea typeface="Times New Roman"/>
                <a:cs typeface="Times New Roman"/>
                <a:sym typeface="Times New Roman"/>
              </a:rPr>
              <a:t>short social media post</a:t>
            </a:r>
          </a:p>
          <a:p>
            <a:pPr algn="l" marL="1381761" indent="-460587" lvl="2">
              <a:lnSpc>
                <a:spcPts val="4480"/>
              </a:lnSpc>
              <a:buFont typeface="Arial"/>
              <a:buChar char="⚬"/>
            </a:pPr>
            <a:r>
              <a:rPr lang="en-US" sz="3200">
                <a:solidFill>
                  <a:srgbClr val="000000"/>
                </a:solidFill>
                <a:latin typeface="Times New Roman"/>
                <a:ea typeface="Times New Roman"/>
                <a:cs typeface="Times New Roman"/>
                <a:sym typeface="Times New Roman"/>
              </a:rPr>
              <a:t>binary label (0/1)</a:t>
            </a:r>
          </a:p>
          <a:p>
            <a:pPr algn="l" marL="690881" indent="-345440" lvl="1">
              <a:lnSpc>
                <a:spcPts val="4480"/>
              </a:lnSpc>
              <a:buFont typeface="Arial"/>
              <a:buChar char="•"/>
            </a:pPr>
            <a:r>
              <a:rPr lang="en-US" sz="3200">
                <a:solidFill>
                  <a:srgbClr val="000000"/>
                </a:solidFill>
                <a:latin typeface="Times New Roman"/>
                <a:ea typeface="Times New Roman"/>
                <a:cs typeface="Times New Roman"/>
                <a:sym typeface="Times New Roman"/>
              </a:rPr>
              <a:t>Ran the improved prompt across the full dev s</a:t>
            </a:r>
            <a:r>
              <a:rPr lang="en-US" sz="3200">
                <a:solidFill>
                  <a:srgbClr val="000000"/>
                </a:solidFill>
                <a:latin typeface="Times New Roman"/>
                <a:ea typeface="Times New Roman"/>
                <a:cs typeface="Times New Roman"/>
                <a:sym typeface="Times New Roman"/>
              </a:rPr>
              <a:t>et and saved predictions in Codabench-compatible format.</a:t>
            </a:r>
          </a:p>
          <a:p>
            <a:pPr algn="l">
              <a:lnSpc>
                <a:spcPts val="4480"/>
              </a:lnSpc>
            </a:pPr>
          </a:p>
          <a:p>
            <a:pPr algn="l">
              <a:lnSpc>
                <a:spcPts val="4480"/>
              </a:lnSpc>
            </a:pPr>
            <a:r>
              <a:rPr lang="en-US" sz="3200" b="true">
                <a:solidFill>
                  <a:srgbClr val="000000"/>
                </a:solidFill>
                <a:latin typeface="Times New Roman Bold"/>
                <a:ea typeface="Times New Roman Bold"/>
                <a:cs typeface="Times New Roman Bold"/>
                <a:sym typeface="Times New Roman Bold"/>
              </a:rPr>
              <a:t>Why This Matters</a:t>
            </a:r>
          </a:p>
          <a:p>
            <a:pPr algn="l" marL="690881" indent="-345440" lvl="1">
              <a:lnSpc>
                <a:spcPts val="4480"/>
              </a:lnSpc>
              <a:buFont typeface="Arial"/>
              <a:buChar char="•"/>
            </a:pPr>
            <a:r>
              <a:rPr lang="en-US" sz="3200">
                <a:solidFill>
                  <a:srgbClr val="000000"/>
                </a:solidFill>
                <a:latin typeface="Times New Roman"/>
                <a:ea typeface="Times New Roman"/>
                <a:cs typeface="Times New Roman"/>
                <a:sym typeface="Times New Roman"/>
              </a:rPr>
              <a:t>Few-shot prompting guides the model toward the same labeling style as the annotators.</a:t>
            </a:r>
          </a:p>
          <a:p>
            <a:pPr algn="l" marL="690881" indent="-345440" lvl="1">
              <a:lnSpc>
                <a:spcPts val="4480"/>
              </a:lnSpc>
              <a:buFont typeface="Arial"/>
              <a:buChar char="•"/>
            </a:pPr>
            <a:r>
              <a:rPr lang="en-US" sz="3200">
                <a:solidFill>
                  <a:srgbClr val="000000"/>
                </a:solidFill>
                <a:latin typeface="Times New Roman"/>
                <a:ea typeface="Times New Roman"/>
                <a:cs typeface="Times New Roman"/>
                <a:sym typeface="Times New Roman"/>
              </a:rPr>
              <a:t>Reduces ambiguity around some topics like:</a:t>
            </a:r>
          </a:p>
          <a:p>
            <a:pPr algn="l" marL="1381761" indent="-460587" lvl="2">
              <a:lnSpc>
                <a:spcPts val="4480"/>
              </a:lnSpc>
              <a:buFont typeface="Arial"/>
              <a:buChar char="⚬"/>
            </a:pPr>
            <a:r>
              <a:rPr lang="en-US" sz="3200">
                <a:solidFill>
                  <a:srgbClr val="000000"/>
                </a:solidFill>
                <a:latin typeface="Times New Roman"/>
                <a:ea typeface="Times New Roman"/>
                <a:cs typeface="Times New Roman"/>
                <a:sym typeface="Times New Roman"/>
              </a:rPr>
              <a:t>political disagreement vs. polarization</a:t>
            </a:r>
          </a:p>
          <a:p>
            <a:pPr algn="l" marL="1381761" indent="-460587" lvl="2">
              <a:lnSpc>
                <a:spcPts val="4480"/>
              </a:lnSpc>
              <a:buFont typeface="Arial"/>
              <a:buChar char="⚬"/>
            </a:pPr>
            <a:r>
              <a:rPr lang="en-US" sz="3200">
                <a:solidFill>
                  <a:srgbClr val="000000"/>
                </a:solidFill>
                <a:latin typeface="Times New Roman"/>
                <a:ea typeface="Times New Roman"/>
                <a:cs typeface="Times New Roman"/>
                <a:sym typeface="Times New Roman"/>
              </a:rPr>
              <a:t>factual statements vs. attacks </a:t>
            </a:r>
          </a:p>
          <a:p>
            <a:pPr algn="l">
              <a:lnSpc>
                <a:spcPts val="4480"/>
              </a:lnSpc>
            </a:pPr>
          </a:p>
          <a:p>
            <a:pPr algn="l">
              <a:lnSpc>
                <a:spcPts val="4759"/>
              </a:lnSpc>
            </a:pP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3351235" y="1717808"/>
            <a:ext cx="11585529" cy="7679132"/>
          </a:xfrm>
          <a:custGeom>
            <a:avLst/>
            <a:gdLst/>
            <a:ahLst/>
            <a:cxnLst/>
            <a:rect r="r" b="b" t="t" l="l"/>
            <a:pathLst>
              <a:path h="7679132" w="11585529">
                <a:moveTo>
                  <a:pt x="0" y="0"/>
                </a:moveTo>
                <a:lnTo>
                  <a:pt x="11585530" y="0"/>
                </a:lnTo>
                <a:lnTo>
                  <a:pt x="11585530" y="7679131"/>
                </a:lnTo>
                <a:lnTo>
                  <a:pt x="0" y="7679131"/>
                </a:lnTo>
                <a:lnTo>
                  <a:pt x="0" y="0"/>
                </a:lnTo>
                <a:close/>
              </a:path>
            </a:pathLst>
          </a:custGeom>
          <a:blipFill>
            <a:blip r:embed="rId2"/>
            <a:stretch>
              <a:fillRect l="0" t="-1013" r="0" b="-1013"/>
            </a:stretch>
          </a:blipFill>
        </p:spPr>
      </p:sp>
      <p:sp>
        <p:nvSpPr>
          <p:cNvPr name="TextBox 3" id="3"/>
          <p:cNvSpPr txBox="true"/>
          <p:nvPr/>
        </p:nvSpPr>
        <p:spPr>
          <a:xfrm rot="0">
            <a:off x="-3826308" y="360432"/>
            <a:ext cx="11585529" cy="887095"/>
          </a:xfrm>
          <a:prstGeom prst="rect">
            <a:avLst/>
          </a:prstGeom>
        </p:spPr>
        <p:txBody>
          <a:bodyPr anchor="t" rtlCol="false" tIns="0" lIns="0" bIns="0" rIns="0">
            <a:spAutoFit/>
          </a:bodyPr>
          <a:lstStyle/>
          <a:p>
            <a:pPr algn="ctr">
              <a:lnSpc>
                <a:spcPts val="7279"/>
              </a:lnSpc>
              <a:spcBef>
                <a:spcPct val="0"/>
              </a:spcBef>
            </a:pPr>
            <a:r>
              <a:rPr lang="en-US" b="true" sz="5199">
                <a:solidFill>
                  <a:srgbClr val="000000"/>
                </a:solidFill>
                <a:latin typeface="Canva Sans Bold"/>
                <a:ea typeface="Canva Sans Bold"/>
                <a:cs typeface="Canva Sans Bold"/>
                <a:sym typeface="Canva Sans Bold"/>
              </a:rPr>
              <a:t>Results</a:t>
            </a:r>
          </a:p>
        </p:txBody>
      </p:sp>
    </p:spTree>
  </p:cSld>
  <p:clrMapOvr>
    <a:masterClrMapping/>
  </p:clrMapOvr>
</p:sld>
</file>

<file path=ppt/slides/slide14.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1791695" y="404198"/>
            <a:ext cx="13886653" cy="887095"/>
          </a:xfrm>
          <a:prstGeom prst="rect">
            <a:avLst/>
          </a:prstGeom>
        </p:spPr>
        <p:txBody>
          <a:bodyPr anchor="t" rtlCol="false" tIns="0" lIns="0" bIns="0" rIns="0">
            <a:spAutoFit/>
          </a:bodyPr>
          <a:lstStyle/>
          <a:p>
            <a:pPr algn="ctr">
              <a:lnSpc>
                <a:spcPts val="7279"/>
              </a:lnSpc>
            </a:pPr>
            <a:r>
              <a:rPr lang="en-US" sz="5199" b="true">
                <a:solidFill>
                  <a:srgbClr val="000000"/>
                </a:solidFill>
                <a:latin typeface="Canva Sans Bold"/>
                <a:ea typeface="Canva Sans Bold"/>
                <a:cs typeface="Canva Sans Bold"/>
                <a:sym typeface="Canva Sans Bold"/>
              </a:rPr>
              <a:t>Improvement: Few-Shot</a:t>
            </a:r>
            <a:r>
              <a:rPr lang="en-US" b="true" sz="5199">
                <a:solidFill>
                  <a:srgbClr val="000000"/>
                </a:solidFill>
                <a:latin typeface="Canva Sans Bold"/>
                <a:ea typeface="Canva Sans Bold"/>
                <a:cs typeface="Canva Sans Bold"/>
                <a:sym typeface="Canva Sans Bold"/>
              </a:rPr>
              <a:t> LLM</a:t>
            </a:r>
          </a:p>
        </p:txBody>
      </p:sp>
      <p:sp>
        <p:nvSpPr>
          <p:cNvPr name="TextBox 3" id="3"/>
          <p:cNvSpPr txBox="true"/>
          <p:nvPr/>
        </p:nvSpPr>
        <p:spPr>
          <a:xfrm rot="0">
            <a:off x="497939" y="1501533"/>
            <a:ext cx="17790061" cy="11718290"/>
          </a:xfrm>
          <a:prstGeom prst="rect">
            <a:avLst/>
          </a:prstGeom>
        </p:spPr>
        <p:txBody>
          <a:bodyPr anchor="t" rtlCol="false" tIns="0" lIns="0" bIns="0" rIns="0">
            <a:spAutoFit/>
          </a:bodyPr>
          <a:lstStyle/>
          <a:p>
            <a:pPr algn="l">
              <a:lnSpc>
                <a:spcPts val="5459"/>
              </a:lnSpc>
            </a:pPr>
            <a:r>
              <a:rPr lang="en-US" sz="3900" b="true">
                <a:solidFill>
                  <a:srgbClr val="000000"/>
                </a:solidFill>
                <a:latin typeface="Times New Roman Bold"/>
                <a:ea typeface="Times New Roman Bold"/>
                <a:cs typeface="Times New Roman Bold"/>
                <a:sym typeface="Times New Roman Bold"/>
              </a:rPr>
              <a:t>Observations</a:t>
            </a:r>
          </a:p>
          <a:p>
            <a:pPr algn="l">
              <a:lnSpc>
                <a:spcPts val="5459"/>
              </a:lnSpc>
            </a:pPr>
          </a:p>
          <a:p>
            <a:pPr algn="l" marL="690881" indent="-345440" lvl="1">
              <a:lnSpc>
                <a:spcPts val="4480"/>
              </a:lnSpc>
              <a:buFont typeface="Arial"/>
              <a:buChar char="•"/>
            </a:pPr>
            <a:r>
              <a:rPr lang="en-US" sz="3200">
                <a:solidFill>
                  <a:srgbClr val="000000"/>
                </a:solidFill>
                <a:latin typeface="Times New Roman"/>
                <a:ea typeface="Times New Roman"/>
                <a:cs typeface="Times New Roman"/>
                <a:sym typeface="Times New Roman"/>
              </a:rPr>
              <a:t>Few-shot prompting significantly improves precision, bringing overall Macro-F1 to ~0.80, the highest among all models tested.</a:t>
            </a:r>
          </a:p>
          <a:p>
            <a:pPr algn="l">
              <a:lnSpc>
                <a:spcPts val="4480"/>
              </a:lnSpc>
            </a:pPr>
          </a:p>
          <a:p>
            <a:pPr algn="l" marL="690881" indent="-345440" lvl="1">
              <a:lnSpc>
                <a:spcPts val="4480"/>
              </a:lnSpc>
              <a:buFont typeface="Arial"/>
              <a:buChar char="•"/>
            </a:pPr>
            <a:r>
              <a:rPr lang="en-US" sz="3200">
                <a:solidFill>
                  <a:srgbClr val="000000"/>
                </a:solidFill>
                <a:latin typeface="Times New Roman"/>
                <a:ea typeface="Times New Roman"/>
                <a:cs typeface="Times New Roman"/>
                <a:sym typeface="Times New Roman"/>
              </a:rPr>
              <a:t>Providing examples directly teaches the model the competition’s labeling style.</a:t>
            </a:r>
          </a:p>
          <a:p>
            <a:pPr algn="l">
              <a:lnSpc>
                <a:spcPts val="4480"/>
              </a:lnSpc>
            </a:pPr>
          </a:p>
          <a:p>
            <a:pPr algn="l" marL="690881" indent="-345440" lvl="1">
              <a:lnSpc>
                <a:spcPts val="4480"/>
              </a:lnSpc>
              <a:buFont typeface="Arial"/>
              <a:buChar char="•"/>
            </a:pPr>
            <a:r>
              <a:rPr lang="en-US" sz="3200">
                <a:solidFill>
                  <a:srgbClr val="000000"/>
                </a:solidFill>
                <a:latin typeface="Times New Roman"/>
                <a:ea typeface="Times New Roman"/>
                <a:cs typeface="Times New Roman"/>
                <a:sym typeface="Times New Roman"/>
              </a:rPr>
              <a:t>Model shows better balance between recall and precision.</a:t>
            </a:r>
          </a:p>
          <a:p>
            <a:pPr algn="l">
              <a:lnSpc>
                <a:spcPts val="4480"/>
              </a:lnSpc>
            </a:pPr>
          </a:p>
          <a:p>
            <a:pPr algn="l" marL="690881" indent="-345440" lvl="1">
              <a:lnSpc>
                <a:spcPts val="4480"/>
              </a:lnSpc>
              <a:buFont typeface="Arial"/>
              <a:buChar char="•"/>
            </a:pPr>
            <a:r>
              <a:rPr lang="en-US" sz="3200">
                <a:solidFill>
                  <a:srgbClr val="000000"/>
                </a:solidFill>
                <a:latin typeface="Times New Roman"/>
                <a:ea typeface="Times New Roman"/>
                <a:cs typeface="Times New Roman"/>
                <a:sym typeface="Times New Roman"/>
              </a:rPr>
              <a:t>Few-shot prompting leverages LLM strengths without heavy compute, making it more efficient than large-scale multilingual fine-tuning.</a:t>
            </a:r>
          </a:p>
          <a:p>
            <a:pPr algn="l">
              <a:lnSpc>
                <a:spcPts val="5459"/>
              </a:lnSpc>
            </a:pPr>
          </a:p>
          <a:p>
            <a:pPr algn="l">
              <a:lnSpc>
                <a:spcPts val="5459"/>
              </a:lnSpc>
            </a:pPr>
          </a:p>
          <a:p>
            <a:pPr algn="l">
              <a:lnSpc>
                <a:spcPts val="5459"/>
              </a:lnSpc>
            </a:pPr>
          </a:p>
          <a:p>
            <a:pPr algn="l">
              <a:lnSpc>
                <a:spcPts val="5459"/>
              </a:lnSpc>
            </a:pPr>
          </a:p>
          <a:p>
            <a:pPr algn="l">
              <a:lnSpc>
                <a:spcPts val="5459"/>
              </a:lnSpc>
            </a:pPr>
          </a:p>
          <a:p>
            <a:pPr algn="l">
              <a:lnSpc>
                <a:spcPts val="5459"/>
              </a:lnSpc>
            </a:pPr>
          </a:p>
          <a:p>
            <a:pPr algn="l">
              <a:lnSpc>
                <a:spcPts val="4480"/>
              </a:lnSpc>
            </a:pPr>
          </a:p>
          <a:p>
            <a:pPr algn="l">
              <a:lnSpc>
                <a:spcPts val="4759"/>
              </a:lnSpc>
            </a:pPr>
          </a:p>
        </p:txBody>
      </p:sp>
    </p:spTree>
  </p:cSld>
  <p:clrMapOvr>
    <a:masterClrMapping/>
  </p:clrMapOvr>
</p:sld>
</file>

<file path=ppt/slides/slide15.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1769812" y="537527"/>
            <a:ext cx="13886653" cy="887095"/>
          </a:xfrm>
          <a:prstGeom prst="rect">
            <a:avLst/>
          </a:prstGeom>
        </p:spPr>
        <p:txBody>
          <a:bodyPr anchor="t" rtlCol="false" tIns="0" lIns="0" bIns="0" rIns="0">
            <a:spAutoFit/>
          </a:bodyPr>
          <a:lstStyle/>
          <a:p>
            <a:pPr algn="ctr">
              <a:lnSpc>
                <a:spcPts val="7279"/>
              </a:lnSpc>
            </a:pPr>
            <a:r>
              <a:rPr lang="en-US" sz="5199" b="true">
                <a:solidFill>
                  <a:srgbClr val="000000"/>
                </a:solidFill>
                <a:latin typeface="Canva Sans Bold"/>
                <a:ea typeface="Canva Sans Bold"/>
                <a:cs typeface="Canva Sans Bold"/>
                <a:sym typeface="Canva Sans Bold"/>
              </a:rPr>
              <a:t>Improvement: Few-Shot</a:t>
            </a:r>
            <a:r>
              <a:rPr lang="en-US" b="true" sz="5199">
                <a:solidFill>
                  <a:srgbClr val="000000"/>
                </a:solidFill>
                <a:latin typeface="Canva Sans Bold"/>
                <a:ea typeface="Canva Sans Bold"/>
                <a:cs typeface="Canva Sans Bold"/>
                <a:sym typeface="Canva Sans Bold"/>
              </a:rPr>
              <a:t> LLM</a:t>
            </a:r>
          </a:p>
        </p:txBody>
      </p:sp>
      <p:sp>
        <p:nvSpPr>
          <p:cNvPr name="TextBox 3" id="3"/>
          <p:cNvSpPr txBox="true"/>
          <p:nvPr/>
        </p:nvSpPr>
        <p:spPr>
          <a:xfrm rot="0">
            <a:off x="497939" y="1855162"/>
            <a:ext cx="17790061" cy="10032365"/>
          </a:xfrm>
          <a:prstGeom prst="rect">
            <a:avLst/>
          </a:prstGeom>
        </p:spPr>
        <p:txBody>
          <a:bodyPr anchor="t" rtlCol="false" tIns="0" lIns="0" bIns="0" rIns="0">
            <a:spAutoFit/>
          </a:bodyPr>
          <a:lstStyle/>
          <a:p>
            <a:pPr algn="l">
              <a:lnSpc>
                <a:spcPts val="5459"/>
              </a:lnSpc>
            </a:pPr>
            <a:r>
              <a:rPr lang="en-US" sz="3900" b="true">
                <a:solidFill>
                  <a:srgbClr val="000000"/>
                </a:solidFill>
                <a:latin typeface="Times New Roman Bold"/>
                <a:ea typeface="Times New Roman Bold"/>
                <a:cs typeface="Times New Roman Bold"/>
                <a:sym typeface="Times New Roman Bold"/>
              </a:rPr>
              <a:t>Conclusion</a:t>
            </a:r>
          </a:p>
          <a:p>
            <a:pPr algn="l">
              <a:lnSpc>
                <a:spcPts val="5459"/>
              </a:lnSpc>
            </a:pPr>
          </a:p>
          <a:p>
            <a:pPr algn="l" marL="690881" indent="-345440" lvl="1">
              <a:lnSpc>
                <a:spcPts val="4480"/>
              </a:lnSpc>
              <a:buFont typeface="Arial"/>
              <a:buChar char="•"/>
            </a:pPr>
            <a:r>
              <a:rPr lang="en-US" sz="3200">
                <a:solidFill>
                  <a:srgbClr val="000000"/>
                </a:solidFill>
                <a:latin typeface="Times New Roman"/>
                <a:ea typeface="Times New Roman"/>
                <a:cs typeface="Times New Roman"/>
                <a:sym typeface="Times New Roman"/>
              </a:rPr>
              <a:t>Thi</a:t>
            </a:r>
            <a:r>
              <a:rPr lang="en-US" sz="3200">
                <a:solidFill>
                  <a:srgbClr val="000000"/>
                </a:solidFill>
                <a:latin typeface="Times New Roman"/>
                <a:ea typeface="Times New Roman"/>
                <a:cs typeface="Times New Roman"/>
                <a:sym typeface="Times New Roman"/>
              </a:rPr>
              <a:t>s confirms that LLMs benefit more from prompt engineering than from fine-tuning for this task.</a:t>
            </a:r>
          </a:p>
          <a:p>
            <a:pPr algn="l">
              <a:lnSpc>
                <a:spcPts val="4480"/>
              </a:lnSpc>
            </a:pPr>
          </a:p>
          <a:p>
            <a:pPr algn="l" marL="690881" indent="-345440" lvl="1">
              <a:lnSpc>
                <a:spcPts val="4480"/>
              </a:lnSpc>
              <a:buFont typeface="Arial"/>
              <a:buChar char="•"/>
            </a:pPr>
            <a:r>
              <a:rPr lang="en-US" sz="3200">
                <a:solidFill>
                  <a:srgbClr val="000000"/>
                </a:solidFill>
                <a:latin typeface="Times New Roman"/>
                <a:ea typeface="Times New Roman"/>
                <a:cs typeface="Times New Roman"/>
                <a:sym typeface="Times New Roman"/>
              </a:rPr>
              <a:t>The task requires contextual understanding (sarcasm, hostility, group framing), which LLMs learn from examples better than mBERT learns from fine-tuning.</a:t>
            </a:r>
          </a:p>
          <a:p>
            <a:pPr algn="l">
              <a:lnSpc>
                <a:spcPts val="4480"/>
              </a:lnSpc>
            </a:pPr>
          </a:p>
          <a:p>
            <a:pPr algn="l" marL="690881" indent="-345440" lvl="1">
              <a:lnSpc>
                <a:spcPts val="4480"/>
              </a:lnSpc>
              <a:buFont typeface="Arial"/>
              <a:buChar char="•"/>
            </a:pPr>
            <a:r>
              <a:rPr lang="en-US" sz="3200">
                <a:solidFill>
                  <a:srgbClr val="000000"/>
                </a:solidFill>
                <a:latin typeface="Times New Roman"/>
                <a:ea typeface="Times New Roman"/>
                <a:cs typeface="Times New Roman"/>
                <a:sym typeface="Times New Roman"/>
              </a:rPr>
              <a:t>This also validates the decision to move beyond mBERT baseline due to limited performance ceiling.</a:t>
            </a:r>
          </a:p>
          <a:p>
            <a:pPr algn="l">
              <a:lnSpc>
                <a:spcPts val="5459"/>
              </a:lnSpc>
            </a:pPr>
          </a:p>
          <a:p>
            <a:pPr algn="l">
              <a:lnSpc>
                <a:spcPts val="5459"/>
              </a:lnSpc>
            </a:pPr>
          </a:p>
          <a:p>
            <a:pPr algn="l">
              <a:lnSpc>
                <a:spcPts val="5459"/>
              </a:lnSpc>
            </a:pPr>
          </a:p>
          <a:p>
            <a:pPr algn="l">
              <a:lnSpc>
                <a:spcPts val="5459"/>
              </a:lnSpc>
            </a:pPr>
          </a:p>
          <a:p>
            <a:pPr algn="l">
              <a:lnSpc>
                <a:spcPts val="5459"/>
              </a:lnSpc>
            </a:pPr>
          </a:p>
          <a:p>
            <a:pPr algn="l">
              <a:lnSpc>
                <a:spcPts val="5459"/>
              </a:lnSpc>
            </a:pPr>
          </a:p>
          <a:p>
            <a:pPr algn="l">
              <a:lnSpc>
                <a:spcPts val="4480"/>
              </a:lnSpc>
            </a:pPr>
          </a:p>
          <a:p>
            <a:pPr algn="l">
              <a:lnSpc>
                <a:spcPts val="4759"/>
              </a:lnSpc>
            </a:pPr>
          </a:p>
        </p:txBody>
      </p:sp>
    </p:spTree>
  </p:cSld>
  <p:clrMapOvr>
    <a:masterClrMapping/>
  </p:clrMapOvr>
</p:sld>
</file>

<file path=ppt/slides/slide16.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3381235" y="933450"/>
            <a:ext cx="9868495" cy="887095"/>
          </a:xfrm>
          <a:prstGeom prst="rect">
            <a:avLst/>
          </a:prstGeom>
        </p:spPr>
        <p:txBody>
          <a:bodyPr anchor="t" rtlCol="false" tIns="0" lIns="0" bIns="0" rIns="0">
            <a:spAutoFit/>
          </a:bodyPr>
          <a:lstStyle/>
          <a:p>
            <a:pPr algn="ctr">
              <a:lnSpc>
                <a:spcPts val="7279"/>
              </a:lnSpc>
              <a:spcBef>
                <a:spcPct val="0"/>
              </a:spcBef>
            </a:pPr>
            <a:r>
              <a:rPr lang="en-US" b="true" sz="5199">
                <a:solidFill>
                  <a:srgbClr val="000000"/>
                </a:solidFill>
                <a:latin typeface="Canva Sans Bold"/>
                <a:ea typeface="Canva Sans Bold"/>
                <a:cs typeface="Canva Sans Bold"/>
                <a:sym typeface="Canva Sans Bold"/>
              </a:rPr>
              <a:t>mT5 — Seq2Seq Reformulation</a:t>
            </a:r>
          </a:p>
        </p:txBody>
      </p:sp>
      <p:sp>
        <p:nvSpPr>
          <p:cNvPr name="TextBox 3" id="3"/>
          <p:cNvSpPr txBox="true"/>
          <p:nvPr/>
        </p:nvSpPr>
        <p:spPr>
          <a:xfrm rot="0">
            <a:off x="2044195" y="3299927"/>
            <a:ext cx="15683837" cy="3528708"/>
          </a:xfrm>
          <a:prstGeom prst="rect">
            <a:avLst/>
          </a:prstGeom>
        </p:spPr>
        <p:txBody>
          <a:bodyPr anchor="t" rtlCol="false" tIns="0" lIns="0" bIns="0" rIns="0">
            <a:spAutoFit/>
          </a:bodyPr>
          <a:lstStyle/>
          <a:p>
            <a:pPr algn="just" marL="626975" indent="-313488" lvl="1">
              <a:lnSpc>
                <a:spcPts val="4065"/>
              </a:lnSpc>
              <a:spcBef>
                <a:spcPct val="0"/>
              </a:spcBef>
              <a:buFont typeface="Arial"/>
              <a:buChar char="•"/>
            </a:pPr>
            <a:r>
              <a:rPr lang="en-US" sz="2904">
                <a:solidFill>
                  <a:srgbClr val="000000"/>
                </a:solidFill>
                <a:latin typeface="Canva Sans"/>
                <a:ea typeface="Canva Sans"/>
                <a:cs typeface="Canva Sans"/>
                <a:sym typeface="Canva Sans"/>
              </a:rPr>
              <a:t>Unlike BERT models (encoder-</a:t>
            </a:r>
            <a:r>
              <a:rPr lang="en-US" sz="2904">
                <a:solidFill>
                  <a:srgbClr val="000000"/>
                </a:solidFill>
                <a:latin typeface="Canva Sans"/>
                <a:ea typeface="Canva Sans"/>
                <a:cs typeface="Canva Sans"/>
                <a:sym typeface="Canva Sans"/>
              </a:rPr>
              <a:t>only), mT5 is encoder–decoder</a:t>
            </a:r>
          </a:p>
          <a:p>
            <a:pPr algn="just" marL="626975" indent="-313488" lvl="1">
              <a:lnSpc>
                <a:spcPts val="4065"/>
              </a:lnSpc>
              <a:spcBef>
                <a:spcPct val="0"/>
              </a:spcBef>
              <a:buFont typeface="Arial"/>
              <a:buChar char="•"/>
            </a:pPr>
            <a:r>
              <a:rPr lang="en-US" sz="2904">
                <a:solidFill>
                  <a:srgbClr val="000000"/>
                </a:solidFill>
                <a:latin typeface="Canva Sans"/>
                <a:ea typeface="Canva Sans"/>
                <a:cs typeface="Canva Sans"/>
                <a:sym typeface="Canva Sans"/>
              </a:rPr>
              <a:t>Reformulated the task as a text-to-text problem</a:t>
            </a:r>
          </a:p>
          <a:p>
            <a:pPr algn="just" marL="1253950" indent="-417983" lvl="2">
              <a:lnSpc>
                <a:spcPts val="4065"/>
              </a:lnSpc>
              <a:spcBef>
                <a:spcPct val="0"/>
              </a:spcBef>
              <a:buFont typeface="Arial"/>
              <a:buChar char="⚬"/>
            </a:pPr>
            <a:r>
              <a:rPr lang="en-US" sz="2904">
                <a:solidFill>
                  <a:srgbClr val="000000"/>
                </a:solidFill>
                <a:latin typeface="Canva Sans"/>
                <a:ea typeface="Canva Sans"/>
                <a:cs typeface="Canva Sans"/>
                <a:sym typeface="Canva Sans"/>
              </a:rPr>
              <a:t>Input: text</a:t>
            </a:r>
          </a:p>
          <a:p>
            <a:pPr algn="just" marL="1253950" indent="-417983" lvl="2">
              <a:lnSpc>
                <a:spcPts val="4065"/>
              </a:lnSpc>
              <a:spcBef>
                <a:spcPct val="0"/>
              </a:spcBef>
              <a:buFont typeface="Arial"/>
              <a:buChar char="⚬"/>
            </a:pPr>
            <a:r>
              <a:rPr lang="en-US" sz="2904">
                <a:solidFill>
                  <a:srgbClr val="000000"/>
                </a:solidFill>
                <a:latin typeface="Canva Sans"/>
                <a:ea typeface="Canva Sans"/>
                <a:cs typeface="Canva Sans"/>
                <a:sym typeface="Canva Sans"/>
              </a:rPr>
              <a:t>Output: "0" or "1"</a:t>
            </a:r>
          </a:p>
          <a:p>
            <a:pPr algn="just" marL="626975" indent="-313488" lvl="1">
              <a:lnSpc>
                <a:spcPts val="4065"/>
              </a:lnSpc>
              <a:spcBef>
                <a:spcPct val="0"/>
              </a:spcBef>
              <a:buFont typeface="Arial"/>
              <a:buChar char="•"/>
            </a:pPr>
            <a:r>
              <a:rPr lang="en-US" sz="2904">
                <a:solidFill>
                  <a:srgbClr val="000000"/>
                </a:solidFill>
                <a:latin typeface="Canva Sans"/>
                <a:ea typeface="Canva Sans"/>
                <a:cs typeface="Canva Sans"/>
                <a:sym typeface="Canva Sans"/>
              </a:rPr>
              <a:t>Works well for multilingual tasks because T5 uses unified vocabulary (SentencePiece)</a:t>
            </a:r>
          </a:p>
          <a:p>
            <a:pPr algn="just" marL="626975" indent="-313488" lvl="1">
              <a:lnSpc>
                <a:spcPts val="4065"/>
              </a:lnSpc>
              <a:spcBef>
                <a:spcPct val="0"/>
              </a:spcBef>
              <a:buFont typeface="Arial"/>
              <a:buChar char="•"/>
            </a:pPr>
            <a:r>
              <a:rPr lang="en-US" sz="2904">
                <a:solidFill>
                  <a:srgbClr val="000000"/>
                </a:solidFill>
                <a:latin typeface="Canva Sans"/>
                <a:ea typeface="Canva Sans"/>
                <a:cs typeface="Canva Sans"/>
                <a:sym typeface="Canva Sans"/>
              </a:rPr>
              <a:t>Trained on all languages jointly using the same pipeline as the baseline.</a:t>
            </a:r>
          </a:p>
          <a:p>
            <a:pPr algn="just">
              <a:lnSpc>
                <a:spcPts val="4065"/>
              </a:lnSpc>
              <a:spcBef>
                <a:spcPct val="0"/>
              </a:spcBef>
            </a:pPr>
          </a:p>
        </p:txBody>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3966997" y="2059152"/>
            <a:ext cx="9545018" cy="7942098"/>
          </a:xfrm>
          <a:custGeom>
            <a:avLst/>
            <a:gdLst/>
            <a:ahLst/>
            <a:cxnLst/>
            <a:rect r="r" b="b" t="t" l="l"/>
            <a:pathLst>
              <a:path h="7942098" w="9545018">
                <a:moveTo>
                  <a:pt x="0" y="0"/>
                </a:moveTo>
                <a:lnTo>
                  <a:pt x="9545018" y="0"/>
                </a:lnTo>
                <a:lnTo>
                  <a:pt x="9545018" y="7942098"/>
                </a:lnTo>
                <a:lnTo>
                  <a:pt x="0" y="7942098"/>
                </a:lnTo>
                <a:lnTo>
                  <a:pt x="0" y="0"/>
                </a:lnTo>
                <a:close/>
              </a:path>
            </a:pathLst>
          </a:custGeom>
          <a:blipFill>
            <a:blip r:embed="rId3"/>
            <a:stretch>
              <a:fillRect l="0" t="-6493" r="0" b="-4626"/>
            </a:stretch>
          </a:blipFill>
        </p:spPr>
      </p:sp>
      <p:sp>
        <p:nvSpPr>
          <p:cNvPr name="TextBox 3" id="3"/>
          <p:cNvSpPr txBox="true"/>
          <p:nvPr/>
        </p:nvSpPr>
        <p:spPr>
          <a:xfrm rot="0">
            <a:off x="6281654" y="141605"/>
            <a:ext cx="3618551" cy="887095"/>
          </a:xfrm>
          <a:prstGeom prst="rect">
            <a:avLst/>
          </a:prstGeom>
        </p:spPr>
        <p:txBody>
          <a:bodyPr anchor="t" rtlCol="false" tIns="0" lIns="0" bIns="0" rIns="0">
            <a:spAutoFit/>
          </a:bodyPr>
          <a:lstStyle/>
          <a:p>
            <a:pPr algn="ctr">
              <a:lnSpc>
                <a:spcPts val="7279"/>
              </a:lnSpc>
              <a:spcBef>
                <a:spcPct val="0"/>
              </a:spcBef>
            </a:pPr>
            <a:r>
              <a:rPr lang="en-US" b="true" sz="5199">
                <a:solidFill>
                  <a:srgbClr val="000000"/>
                </a:solidFill>
                <a:latin typeface="Canva Sans Bold"/>
                <a:ea typeface="Canva Sans Bold"/>
                <a:cs typeface="Canva Sans Bold"/>
                <a:sym typeface="Canva Sans Bold"/>
              </a:rPr>
              <a:t>Training </a:t>
            </a:r>
          </a:p>
        </p:txBody>
      </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2952750" y="3409923"/>
            <a:ext cx="10962500" cy="818118"/>
          </a:xfrm>
          <a:custGeom>
            <a:avLst/>
            <a:gdLst/>
            <a:ahLst/>
            <a:cxnLst/>
            <a:rect r="r" b="b" t="t" l="l"/>
            <a:pathLst>
              <a:path h="818118" w="10962500">
                <a:moveTo>
                  <a:pt x="0" y="0"/>
                </a:moveTo>
                <a:lnTo>
                  <a:pt x="10962500" y="0"/>
                </a:lnTo>
                <a:lnTo>
                  <a:pt x="10962500" y="818117"/>
                </a:lnTo>
                <a:lnTo>
                  <a:pt x="0" y="818117"/>
                </a:lnTo>
                <a:lnTo>
                  <a:pt x="0" y="0"/>
                </a:lnTo>
                <a:close/>
              </a:path>
            </a:pathLst>
          </a:custGeom>
          <a:blipFill>
            <a:blip r:embed="rId3"/>
            <a:stretch>
              <a:fillRect l="0" t="-22043" r="0" b="-20220"/>
            </a:stretch>
          </a:blipFill>
        </p:spPr>
      </p:sp>
      <p:sp>
        <p:nvSpPr>
          <p:cNvPr name="Freeform 3" id="3"/>
          <p:cNvSpPr/>
          <p:nvPr/>
        </p:nvSpPr>
        <p:spPr>
          <a:xfrm flipH="false" flipV="false" rot="0">
            <a:off x="2952750" y="4237565"/>
            <a:ext cx="10610415" cy="1038056"/>
          </a:xfrm>
          <a:custGeom>
            <a:avLst/>
            <a:gdLst/>
            <a:ahLst/>
            <a:cxnLst/>
            <a:rect r="r" b="b" t="t" l="l"/>
            <a:pathLst>
              <a:path h="1038056" w="10610415">
                <a:moveTo>
                  <a:pt x="0" y="0"/>
                </a:moveTo>
                <a:lnTo>
                  <a:pt x="10610415" y="0"/>
                </a:lnTo>
                <a:lnTo>
                  <a:pt x="10610415" y="1038056"/>
                </a:lnTo>
                <a:lnTo>
                  <a:pt x="0" y="1038056"/>
                </a:lnTo>
                <a:lnTo>
                  <a:pt x="0" y="0"/>
                </a:lnTo>
                <a:close/>
              </a:path>
            </a:pathLst>
          </a:custGeom>
          <a:blipFill>
            <a:blip r:embed="rId4"/>
            <a:stretch>
              <a:fillRect l="-3318" t="0" r="0" b="0"/>
            </a:stretch>
          </a:blipFill>
        </p:spPr>
      </p:sp>
      <p:sp>
        <p:nvSpPr>
          <p:cNvPr name="Freeform 4" id="4"/>
          <p:cNvSpPr/>
          <p:nvPr/>
        </p:nvSpPr>
        <p:spPr>
          <a:xfrm flipH="false" flipV="false" rot="0">
            <a:off x="2952750" y="5286621"/>
            <a:ext cx="10934900" cy="1809258"/>
          </a:xfrm>
          <a:custGeom>
            <a:avLst/>
            <a:gdLst/>
            <a:ahLst/>
            <a:cxnLst/>
            <a:rect r="r" b="b" t="t" l="l"/>
            <a:pathLst>
              <a:path h="1809258" w="10934900">
                <a:moveTo>
                  <a:pt x="0" y="0"/>
                </a:moveTo>
                <a:lnTo>
                  <a:pt x="10934900" y="0"/>
                </a:lnTo>
                <a:lnTo>
                  <a:pt x="10934900" y="1809258"/>
                </a:lnTo>
                <a:lnTo>
                  <a:pt x="0" y="1809258"/>
                </a:lnTo>
                <a:lnTo>
                  <a:pt x="0" y="0"/>
                </a:lnTo>
                <a:close/>
              </a:path>
            </a:pathLst>
          </a:custGeom>
          <a:blipFill>
            <a:blip r:embed="rId5"/>
            <a:stretch>
              <a:fillRect l="0" t="0" r="0" b="0"/>
            </a:stretch>
          </a:blipFill>
        </p:spPr>
      </p:sp>
      <p:sp>
        <p:nvSpPr>
          <p:cNvPr name="Freeform 5" id="5"/>
          <p:cNvSpPr/>
          <p:nvPr/>
        </p:nvSpPr>
        <p:spPr>
          <a:xfrm flipH="false" flipV="false" rot="0">
            <a:off x="2730381" y="6906819"/>
            <a:ext cx="11236104" cy="1036405"/>
          </a:xfrm>
          <a:custGeom>
            <a:avLst/>
            <a:gdLst/>
            <a:ahLst/>
            <a:cxnLst/>
            <a:rect r="r" b="b" t="t" l="l"/>
            <a:pathLst>
              <a:path h="1036405" w="11236104">
                <a:moveTo>
                  <a:pt x="0" y="0"/>
                </a:moveTo>
                <a:lnTo>
                  <a:pt x="11236103" y="0"/>
                </a:lnTo>
                <a:lnTo>
                  <a:pt x="11236103" y="1036405"/>
                </a:lnTo>
                <a:lnTo>
                  <a:pt x="0" y="1036405"/>
                </a:lnTo>
                <a:lnTo>
                  <a:pt x="0" y="0"/>
                </a:lnTo>
                <a:close/>
              </a:path>
            </a:pathLst>
          </a:custGeom>
          <a:blipFill>
            <a:blip r:embed="rId6"/>
            <a:stretch>
              <a:fillRect l="0" t="-1009" r="0" b="-1009"/>
            </a:stretch>
          </a:blipFill>
        </p:spPr>
      </p:sp>
      <p:sp>
        <p:nvSpPr>
          <p:cNvPr name="Freeform 6" id="6"/>
          <p:cNvSpPr/>
          <p:nvPr/>
        </p:nvSpPr>
        <p:spPr>
          <a:xfrm flipH="false" flipV="false" rot="0">
            <a:off x="2922898" y="2213487"/>
            <a:ext cx="10212434" cy="1196436"/>
          </a:xfrm>
          <a:custGeom>
            <a:avLst/>
            <a:gdLst/>
            <a:ahLst/>
            <a:cxnLst/>
            <a:rect r="r" b="b" t="t" l="l"/>
            <a:pathLst>
              <a:path h="1196436" w="10212434">
                <a:moveTo>
                  <a:pt x="0" y="0"/>
                </a:moveTo>
                <a:lnTo>
                  <a:pt x="10212435" y="0"/>
                </a:lnTo>
                <a:lnTo>
                  <a:pt x="10212435" y="1196436"/>
                </a:lnTo>
                <a:lnTo>
                  <a:pt x="0" y="1196436"/>
                </a:lnTo>
                <a:lnTo>
                  <a:pt x="0" y="0"/>
                </a:lnTo>
                <a:close/>
              </a:path>
            </a:pathLst>
          </a:custGeom>
          <a:blipFill>
            <a:blip r:embed="rId7"/>
            <a:stretch>
              <a:fillRect l="0" t="0" r="0" b="0"/>
            </a:stretch>
          </a:blipFill>
        </p:spPr>
      </p:sp>
      <p:sp>
        <p:nvSpPr>
          <p:cNvPr name="TextBox 7" id="7"/>
          <p:cNvSpPr txBox="true"/>
          <p:nvPr/>
        </p:nvSpPr>
        <p:spPr>
          <a:xfrm rot="0">
            <a:off x="2922898" y="269117"/>
            <a:ext cx="10357803" cy="887095"/>
          </a:xfrm>
          <a:prstGeom prst="rect">
            <a:avLst/>
          </a:prstGeom>
        </p:spPr>
        <p:txBody>
          <a:bodyPr anchor="t" rtlCol="false" tIns="0" lIns="0" bIns="0" rIns="0">
            <a:spAutoFit/>
          </a:bodyPr>
          <a:lstStyle/>
          <a:p>
            <a:pPr algn="ctr">
              <a:lnSpc>
                <a:spcPts val="7279"/>
              </a:lnSpc>
              <a:spcBef>
                <a:spcPct val="0"/>
              </a:spcBef>
            </a:pPr>
            <a:r>
              <a:rPr lang="en-US" b="true" sz="5199">
                <a:solidFill>
                  <a:srgbClr val="000000"/>
                </a:solidFill>
                <a:latin typeface="Canva Sans Bold"/>
                <a:ea typeface="Canva Sans Bold"/>
                <a:cs typeface="Canva Sans Bold"/>
                <a:sym typeface="Canva Sans Bold"/>
              </a:rPr>
              <a:t>Development Set Results</a:t>
            </a:r>
          </a:p>
        </p:txBody>
      </p:sp>
    </p:spTree>
  </p:cSld>
  <p:clrMapOvr>
    <a:masterClrMapping/>
  </p:clrMapOvr>
</p:sld>
</file>

<file path=ppt/slides/slide19.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6485945" y="141605"/>
            <a:ext cx="5353172" cy="887095"/>
          </a:xfrm>
          <a:prstGeom prst="rect">
            <a:avLst/>
          </a:prstGeom>
        </p:spPr>
        <p:txBody>
          <a:bodyPr anchor="t" rtlCol="false" tIns="0" lIns="0" bIns="0" rIns="0">
            <a:spAutoFit/>
          </a:bodyPr>
          <a:lstStyle/>
          <a:p>
            <a:pPr algn="ctr">
              <a:lnSpc>
                <a:spcPts val="7279"/>
              </a:lnSpc>
              <a:spcBef>
                <a:spcPct val="0"/>
              </a:spcBef>
            </a:pPr>
            <a:r>
              <a:rPr lang="en-US" b="true" sz="5199">
                <a:solidFill>
                  <a:srgbClr val="000000"/>
                </a:solidFill>
                <a:latin typeface="Canva Sans Bold"/>
                <a:ea typeface="Canva Sans Bold"/>
                <a:cs typeface="Canva Sans Bold"/>
                <a:sym typeface="Canva Sans Bold"/>
              </a:rPr>
              <a:t>Observation</a:t>
            </a:r>
          </a:p>
        </p:txBody>
      </p:sp>
      <p:sp>
        <p:nvSpPr>
          <p:cNvPr name="TextBox 3" id="3"/>
          <p:cNvSpPr txBox="true"/>
          <p:nvPr/>
        </p:nvSpPr>
        <p:spPr>
          <a:xfrm rot="0">
            <a:off x="824383" y="2421392"/>
            <a:ext cx="17463617" cy="5935260"/>
          </a:xfrm>
          <a:prstGeom prst="rect">
            <a:avLst/>
          </a:prstGeom>
        </p:spPr>
        <p:txBody>
          <a:bodyPr anchor="t" rtlCol="false" tIns="0" lIns="0" bIns="0" rIns="0">
            <a:spAutoFit/>
          </a:bodyPr>
          <a:lstStyle/>
          <a:p>
            <a:pPr algn="l" marL="556666" indent="-278333" lvl="1">
              <a:lnSpc>
                <a:spcPts val="3609"/>
              </a:lnSpc>
              <a:buFont typeface="Arial"/>
              <a:buChar char="•"/>
            </a:pPr>
            <a:r>
              <a:rPr lang="en-US" sz="2578">
                <a:solidFill>
                  <a:srgbClr val="000000"/>
                </a:solidFill>
                <a:latin typeface="Canva Sans"/>
                <a:ea typeface="Canva Sans"/>
                <a:cs typeface="Canva Sans"/>
                <a:sym typeface="Canva Sans"/>
              </a:rPr>
              <a:t>The mT5 model works well because it is an encoder–decoder system that treats the task as text-to-text. This helps it understand meaning, tone, and multilingual text better than encoder-only models like mBERT.</a:t>
            </a:r>
          </a:p>
          <a:p>
            <a:pPr algn="l">
              <a:lnSpc>
                <a:spcPts val="3609"/>
              </a:lnSpc>
            </a:pPr>
          </a:p>
          <a:p>
            <a:pPr algn="l" marL="556666" indent="-278333" lvl="1">
              <a:lnSpc>
                <a:spcPts val="3609"/>
              </a:lnSpc>
              <a:buFont typeface="Arial"/>
              <a:buChar char="•"/>
            </a:pPr>
            <a:r>
              <a:rPr lang="en-US" sz="2578">
                <a:solidFill>
                  <a:srgbClr val="000000"/>
                </a:solidFill>
                <a:latin typeface="Canva Sans"/>
                <a:ea typeface="Canva Sans"/>
                <a:cs typeface="Canva Sans"/>
                <a:sym typeface="Canva Sans"/>
              </a:rPr>
              <a:t>Training accuracy is high for languages with more data and clearer patterns (Hausa, Hindi, Farsi, Chinese). Lower accuracy in languages like Arabic, German, Spanish, and Turkish suggests less data or more noisy/varied writing styles.</a:t>
            </a:r>
          </a:p>
          <a:p>
            <a:pPr algn="l">
              <a:lnSpc>
                <a:spcPts val="3609"/>
              </a:lnSpc>
            </a:pPr>
          </a:p>
          <a:p>
            <a:pPr algn="l" marL="556666" indent="-278333" lvl="1">
              <a:lnSpc>
                <a:spcPts val="3609"/>
              </a:lnSpc>
              <a:buFont typeface="Arial"/>
              <a:buChar char="•"/>
            </a:pPr>
            <a:r>
              <a:rPr lang="en-US" sz="2578">
                <a:solidFill>
                  <a:srgbClr val="000000"/>
                </a:solidFill>
                <a:latin typeface="Canva Sans"/>
                <a:ea typeface="Canva Sans"/>
                <a:cs typeface="Canva Sans"/>
                <a:sym typeface="Canva Sans"/>
              </a:rPr>
              <a:t>Development set results follow a similar trend: languages such as Hindi, Farsi, and Chinese generalize well, while Nepali and Spanish show bigger drops due to more difficult real-world examples. Spanish especially has high recall but low precision, meaning the model overpredicts polarization.</a:t>
            </a:r>
          </a:p>
          <a:p>
            <a:pPr algn="l">
              <a:lnSpc>
                <a:spcPts val="3609"/>
              </a:lnSpc>
            </a:pPr>
          </a:p>
          <a:p>
            <a:pPr algn="l" marL="556666" indent="-278333" lvl="1">
              <a:lnSpc>
                <a:spcPts val="3609"/>
              </a:lnSpc>
              <a:buFont typeface="Arial"/>
              <a:buChar char="•"/>
            </a:pPr>
            <a:r>
              <a:rPr lang="en-US" sz="2578">
                <a:solidFill>
                  <a:srgbClr val="000000"/>
                </a:solidFill>
                <a:latin typeface="Canva Sans"/>
                <a:ea typeface="Canva Sans"/>
                <a:cs typeface="Canva Sans"/>
                <a:sym typeface="Canva Sans"/>
              </a:rPr>
              <a:t>Overall, the model performs strongly on high-resource languages and struggles more with low-resource or highly variable languages.</a:t>
            </a:r>
          </a:p>
        </p:txBody>
      </p:sp>
    </p:spTree>
  </p:cSld>
  <p:clrMapOvr>
    <a:masterClrMapping/>
  </p:clrMapOvr>
</p:sld>
</file>

<file path=ppt/slides/slide20.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1185738" y="773215"/>
            <a:ext cx="12388883" cy="887095"/>
          </a:xfrm>
          <a:prstGeom prst="rect">
            <a:avLst/>
          </a:prstGeom>
        </p:spPr>
        <p:txBody>
          <a:bodyPr anchor="t" rtlCol="false" tIns="0" lIns="0" bIns="0" rIns="0">
            <a:spAutoFit/>
          </a:bodyPr>
          <a:lstStyle/>
          <a:p>
            <a:pPr algn="ctr">
              <a:lnSpc>
                <a:spcPts val="7279"/>
              </a:lnSpc>
              <a:spcBef>
                <a:spcPct val="0"/>
              </a:spcBef>
            </a:pPr>
            <a:r>
              <a:rPr lang="en-US" b="true" sz="5199">
                <a:solidFill>
                  <a:srgbClr val="000000"/>
                </a:solidFill>
                <a:latin typeface="Canva Sans Bold"/>
                <a:ea typeface="Canva Sans Bold"/>
                <a:cs typeface="Canva Sans Bold"/>
                <a:sym typeface="Canva Sans Bold"/>
              </a:rPr>
              <a:t>Baseline 3: Multilingual BERT + LoRA </a:t>
            </a:r>
          </a:p>
        </p:txBody>
      </p:sp>
      <p:sp>
        <p:nvSpPr>
          <p:cNvPr name="TextBox 3" id="3"/>
          <p:cNvSpPr txBox="true"/>
          <p:nvPr/>
        </p:nvSpPr>
        <p:spPr>
          <a:xfrm rot="0">
            <a:off x="1496021" y="2128327"/>
            <a:ext cx="15071959" cy="8011260"/>
          </a:xfrm>
          <a:prstGeom prst="rect">
            <a:avLst/>
          </a:prstGeom>
        </p:spPr>
        <p:txBody>
          <a:bodyPr anchor="t" rtlCol="false" tIns="0" lIns="0" bIns="0" rIns="0">
            <a:spAutoFit/>
          </a:bodyPr>
          <a:lstStyle/>
          <a:p>
            <a:pPr algn="l">
              <a:lnSpc>
                <a:spcPts val="3556"/>
              </a:lnSpc>
            </a:pPr>
            <a:r>
              <a:rPr lang="en-US" sz="2540" b="true">
                <a:solidFill>
                  <a:srgbClr val="000000"/>
                </a:solidFill>
                <a:latin typeface="Canva Sans Bold"/>
                <a:ea typeface="Canva Sans Bold"/>
                <a:cs typeface="Canva Sans Bold"/>
                <a:sym typeface="Canva Sans Bold"/>
              </a:rPr>
              <a:t>LoRA = Low-Rank Adaptation</a:t>
            </a:r>
          </a:p>
          <a:p>
            <a:pPr algn="l">
              <a:lnSpc>
                <a:spcPts val="3556"/>
              </a:lnSpc>
            </a:pPr>
            <a:r>
              <a:rPr lang="en-US" sz="2540">
                <a:solidFill>
                  <a:srgbClr val="000000"/>
                </a:solidFill>
                <a:latin typeface="Canva Sans"/>
                <a:ea typeface="Canva Sans"/>
                <a:cs typeface="Canva Sans"/>
                <a:sym typeface="Canva Sans"/>
              </a:rPr>
              <a:t>A method to fine-tune large models efficiently by training only a tiny fraction of their parameters.</a:t>
            </a:r>
          </a:p>
          <a:p>
            <a:pPr algn="l">
              <a:lnSpc>
                <a:spcPts val="3556"/>
              </a:lnSpc>
            </a:pPr>
            <a:r>
              <a:rPr lang="en-US" sz="2540">
                <a:solidFill>
                  <a:srgbClr val="000000"/>
                </a:solidFill>
                <a:latin typeface="Canva Sans"/>
                <a:ea typeface="Canva Sans"/>
                <a:cs typeface="Canva Sans"/>
                <a:sym typeface="Canva Sans"/>
              </a:rPr>
              <a:t>Why LoRA?</a:t>
            </a:r>
          </a:p>
          <a:p>
            <a:pPr algn="l" marL="548477" indent="-274239" lvl="1">
              <a:lnSpc>
                <a:spcPts val="3556"/>
              </a:lnSpc>
              <a:buFont typeface="Arial"/>
              <a:buChar char="•"/>
            </a:pPr>
            <a:r>
              <a:rPr lang="en-US" sz="2540">
                <a:solidFill>
                  <a:srgbClr val="000000"/>
                </a:solidFill>
                <a:latin typeface="Canva Sans"/>
                <a:ea typeface="Canva Sans"/>
                <a:cs typeface="Canva Sans"/>
                <a:sym typeface="Canva Sans"/>
              </a:rPr>
              <a:t>Large models (like BERT) have millions of parameters</a:t>
            </a:r>
          </a:p>
          <a:p>
            <a:pPr algn="l" marL="548477" indent="-274239" lvl="1">
              <a:lnSpc>
                <a:spcPts val="3556"/>
              </a:lnSpc>
              <a:buFont typeface="Arial"/>
              <a:buChar char="•"/>
            </a:pPr>
            <a:r>
              <a:rPr lang="en-US" sz="2540">
                <a:solidFill>
                  <a:srgbClr val="000000"/>
                </a:solidFill>
                <a:latin typeface="Canva Sans"/>
                <a:ea typeface="Canva Sans"/>
                <a:cs typeface="Canva Sans"/>
                <a:sym typeface="Canva Sans"/>
              </a:rPr>
              <a:t>Training all parameters is slow and requires big GPUs</a:t>
            </a:r>
          </a:p>
          <a:p>
            <a:pPr algn="l" marL="548477" indent="-274239" lvl="1">
              <a:lnSpc>
                <a:spcPts val="3556"/>
              </a:lnSpc>
              <a:buFont typeface="Arial"/>
              <a:buChar char="•"/>
            </a:pPr>
            <a:r>
              <a:rPr lang="en-US" sz="2540">
                <a:solidFill>
                  <a:srgbClr val="000000"/>
                </a:solidFill>
                <a:latin typeface="Canva Sans"/>
                <a:ea typeface="Canva Sans"/>
                <a:cs typeface="Canva Sans"/>
                <a:sym typeface="Canva Sans"/>
              </a:rPr>
              <a:t>LoRA trains only small additional matrices, not the whole model</a:t>
            </a:r>
          </a:p>
          <a:p>
            <a:pPr algn="l">
              <a:lnSpc>
                <a:spcPts val="3556"/>
              </a:lnSpc>
            </a:pPr>
          </a:p>
          <a:p>
            <a:pPr algn="l">
              <a:lnSpc>
                <a:spcPts val="3556"/>
              </a:lnSpc>
            </a:pPr>
            <a:r>
              <a:rPr lang="en-US" sz="2540">
                <a:solidFill>
                  <a:srgbClr val="000000"/>
                </a:solidFill>
                <a:latin typeface="Canva Sans"/>
                <a:ea typeface="Canva Sans"/>
                <a:cs typeface="Canva Sans"/>
                <a:sym typeface="Canva Sans"/>
              </a:rPr>
              <a:t>The Core Idea:</a:t>
            </a:r>
          </a:p>
          <a:p>
            <a:pPr algn="l">
              <a:lnSpc>
                <a:spcPts val="3556"/>
              </a:lnSpc>
            </a:pPr>
            <a:r>
              <a:rPr lang="en-US" sz="2540">
                <a:solidFill>
                  <a:srgbClr val="000000"/>
                </a:solidFill>
                <a:latin typeface="Canva Sans"/>
                <a:ea typeface="Canva Sans"/>
                <a:cs typeface="Canva Sans"/>
                <a:sym typeface="Canva Sans"/>
              </a:rPr>
              <a:t>Instead of updating the full weight matrix W, LoRA adds:</a:t>
            </a:r>
          </a:p>
          <a:p>
            <a:pPr algn="l">
              <a:lnSpc>
                <a:spcPts val="3556"/>
              </a:lnSpc>
            </a:pPr>
            <a:r>
              <a:rPr lang="en-US" sz="2540">
                <a:solidFill>
                  <a:srgbClr val="000000"/>
                </a:solidFill>
                <a:latin typeface="Canva Sans"/>
                <a:ea typeface="Canva Sans"/>
                <a:cs typeface="Canva Sans"/>
                <a:sym typeface="Canva Sans"/>
              </a:rPr>
              <a:t>W' = W + B * A</a:t>
            </a:r>
          </a:p>
          <a:p>
            <a:pPr algn="l">
              <a:lnSpc>
                <a:spcPts val="3556"/>
              </a:lnSpc>
            </a:pPr>
            <a:r>
              <a:rPr lang="en-US" sz="2540">
                <a:solidFill>
                  <a:srgbClr val="000000"/>
                </a:solidFill>
                <a:latin typeface="Canva Sans"/>
                <a:ea typeface="Canva Sans"/>
                <a:cs typeface="Canva Sans"/>
                <a:sym typeface="Canva Sans"/>
              </a:rPr>
              <a:t>Where:</a:t>
            </a:r>
          </a:p>
          <a:p>
            <a:pPr algn="l" marL="548477" indent="-274239" lvl="1">
              <a:lnSpc>
                <a:spcPts val="3556"/>
              </a:lnSpc>
              <a:buFont typeface="Arial"/>
              <a:buChar char="•"/>
            </a:pPr>
            <a:r>
              <a:rPr lang="en-US" sz="2540">
                <a:solidFill>
                  <a:srgbClr val="000000"/>
                </a:solidFill>
                <a:latin typeface="Canva Sans"/>
                <a:ea typeface="Canva Sans"/>
                <a:cs typeface="Canva Sans"/>
                <a:sym typeface="Canva Sans"/>
              </a:rPr>
              <a:t>A = down-projection (reduces dimension)</a:t>
            </a:r>
          </a:p>
          <a:p>
            <a:pPr algn="l" marL="548477" indent="-274239" lvl="1">
              <a:lnSpc>
                <a:spcPts val="3556"/>
              </a:lnSpc>
              <a:buFont typeface="Arial"/>
              <a:buChar char="•"/>
            </a:pPr>
            <a:r>
              <a:rPr lang="en-US" sz="2540">
                <a:solidFill>
                  <a:srgbClr val="000000"/>
                </a:solidFill>
                <a:latin typeface="Canva Sans"/>
                <a:ea typeface="Canva Sans"/>
                <a:cs typeface="Canva Sans"/>
                <a:sym typeface="Canva Sans"/>
              </a:rPr>
              <a:t>B = up-projection (restores dimension)</a:t>
            </a:r>
          </a:p>
          <a:p>
            <a:pPr algn="l" marL="548477" indent="-274239" lvl="1">
              <a:lnSpc>
                <a:spcPts val="3556"/>
              </a:lnSpc>
              <a:buFont typeface="Arial"/>
              <a:buChar char="•"/>
            </a:pPr>
            <a:r>
              <a:rPr lang="en-US" sz="2540">
                <a:solidFill>
                  <a:srgbClr val="000000"/>
                </a:solidFill>
                <a:latin typeface="Canva Sans"/>
                <a:ea typeface="Canva Sans"/>
                <a:cs typeface="Canva Sans"/>
                <a:sym typeface="Canva Sans"/>
              </a:rPr>
              <a:t>A and B have very small rank (e.g., r = 8)</a:t>
            </a:r>
          </a:p>
          <a:p>
            <a:pPr algn="l">
              <a:lnSpc>
                <a:spcPts val="3556"/>
              </a:lnSpc>
            </a:pPr>
          </a:p>
          <a:p>
            <a:pPr algn="l">
              <a:lnSpc>
                <a:spcPts val="3556"/>
              </a:lnSpc>
            </a:pPr>
          </a:p>
          <a:p>
            <a:pPr algn="l">
              <a:lnSpc>
                <a:spcPts val="3556"/>
              </a:lnSpc>
            </a:pPr>
          </a:p>
          <a:p>
            <a:pPr algn="l">
              <a:lnSpc>
                <a:spcPts val="3556"/>
              </a:lnSpc>
            </a:pPr>
          </a:p>
        </p:txBody>
      </p:sp>
    </p:spTree>
  </p:cSld>
  <p:clrMapOvr>
    <a:masterClrMapping/>
  </p:clrMapOvr>
</p:sld>
</file>

<file path=ppt/slides/slide21.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1028700" y="981075"/>
            <a:ext cx="16578032" cy="7448444"/>
          </a:xfrm>
          <a:prstGeom prst="rect">
            <a:avLst/>
          </a:prstGeom>
        </p:spPr>
        <p:txBody>
          <a:bodyPr anchor="t" rtlCol="false" tIns="0" lIns="0" bIns="0" rIns="0">
            <a:spAutoFit/>
          </a:bodyPr>
          <a:lstStyle/>
          <a:p>
            <a:pPr algn="l">
              <a:lnSpc>
                <a:spcPts val="3680"/>
              </a:lnSpc>
            </a:pPr>
            <a:r>
              <a:rPr lang="en-US" b="true" sz="2629">
                <a:solidFill>
                  <a:srgbClr val="000000"/>
                </a:solidFill>
                <a:latin typeface="Canva Sans Bold"/>
                <a:ea typeface="Canva Sans Bold"/>
                <a:cs typeface="Canva Sans Bold"/>
                <a:sym typeface="Canva Sans Bold"/>
              </a:rPr>
              <a:t>Benefits:</a:t>
            </a:r>
          </a:p>
          <a:p>
            <a:pPr algn="l" marL="567636" indent="-283818" lvl="1">
              <a:lnSpc>
                <a:spcPts val="3680"/>
              </a:lnSpc>
              <a:buFont typeface="Arial"/>
              <a:buChar char="•"/>
            </a:pPr>
            <a:r>
              <a:rPr lang="en-US" sz="2629">
                <a:solidFill>
                  <a:srgbClr val="000000"/>
                </a:solidFill>
                <a:latin typeface="Canva Sans"/>
                <a:ea typeface="Canva Sans"/>
                <a:cs typeface="Canva Sans"/>
                <a:sym typeface="Canva Sans"/>
              </a:rPr>
              <a:t>Fast training</a:t>
            </a:r>
          </a:p>
          <a:p>
            <a:pPr algn="l" marL="567636" indent="-283818" lvl="1">
              <a:lnSpc>
                <a:spcPts val="3680"/>
              </a:lnSpc>
              <a:buFont typeface="Arial"/>
              <a:buChar char="•"/>
            </a:pPr>
            <a:r>
              <a:rPr lang="en-US" sz="2629">
                <a:solidFill>
                  <a:srgbClr val="000000"/>
                </a:solidFill>
                <a:latin typeface="Canva Sans"/>
                <a:ea typeface="Canva Sans"/>
                <a:cs typeface="Canva Sans"/>
                <a:sym typeface="Canva Sans"/>
              </a:rPr>
              <a:t>Low memory usage</a:t>
            </a:r>
          </a:p>
          <a:p>
            <a:pPr algn="l" marL="567636" indent="-283818" lvl="1">
              <a:lnSpc>
                <a:spcPts val="3680"/>
              </a:lnSpc>
              <a:buFont typeface="Arial"/>
              <a:buChar char="•"/>
            </a:pPr>
            <a:r>
              <a:rPr lang="en-US" sz="2629">
                <a:solidFill>
                  <a:srgbClr val="000000"/>
                </a:solidFill>
                <a:latin typeface="Canva Sans"/>
                <a:ea typeface="Canva Sans"/>
                <a:cs typeface="Canva Sans"/>
                <a:sym typeface="Canva Sans"/>
              </a:rPr>
              <a:t>Can train many versions (per language)</a:t>
            </a:r>
          </a:p>
          <a:p>
            <a:pPr algn="l" marL="567636" indent="-283818" lvl="1">
              <a:lnSpc>
                <a:spcPts val="3680"/>
              </a:lnSpc>
              <a:buFont typeface="Arial"/>
              <a:buChar char="•"/>
            </a:pPr>
            <a:r>
              <a:rPr lang="en-US" sz="2629">
                <a:solidFill>
                  <a:srgbClr val="000000"/>
                </a:solidFill>
                <a:latin typeface="Canva Sans"/>
                <a:ea typeface="Canva Sans"/>
                <a:cs typeface="Canva Sans"/>
                <a:sym typeface="Canva Sans"/>
              </a:rPr>
              <a:t>No need to retrain the whole BERT model</a:t>
            </a:r>
          </a:p>
          <a:p>
            <a:pPr algn="l">
              <a:lnSpc>
                <a:spcPts val="3680"/>
              </a:lnSpc>
            </a:pPr>
          </a:p>
          <a:p>
            <a:pPr algn="l" marL="567636" indent="-283818" lvl="1">
              <a:lnSpc>
                <a:spcPts val="3680"/>
              </a:lnSpc>
              <a:buAutoNum type="arabicPeriod" startAt="1"/>
            </a:pPr>
            <a:r>
              <a:rPr lang="en-US" b="true" sz="2629">
                <a:solidFill>
                  <a:srgbClr val="000000"/>
                </a:solidFill>
                <a:latin typeface="Canva Sans Bold"/>
                <a:ea typeface="Canva Sans Bold"/>
                <a:cs typeface="Canva Sans Bold"/>
                <a:sym typeface="Canva Sans Bold"/>
              </a:rPr>
              <a:t>Trained a Multilingual Baseline LoRA Model</a:t>
            </a:r>
          </a:p>
          <a:p>
            <a:pPr algn="l" marL="567636" indent="-283818" lvl="1">
              <a:lnSpc>
                <a:spcPts val="3680"/>
              </a:lnSpc>
              <a:buFont typeface="Arial"/>
              <a:buChar char="•"/>
            </a:pPr>
            <a:r>
              <a:rPr lang="en-US" sz="2629">
                <a:solidFill>
                  <a:srgbClr val="000000"/>
                </a:solidFill>
                <a:latin typeface="Canva Sans"/>
                <a:ea typeface="Canva Sans"/>
                <a:cs typeface="Canva Sans"/>
                <a:sym typeface="Canva Sans"/>
              </a:rPr>
              <a:t>One LoRA adapter on top of multilingual BERT</a:t>
            </a:r>
          </a:p>
          <a:p>
            <a:pPr algn="l" marL="567636" indent="-283818" lvl="1">
              <a:lnSpc>
                <a:spcPts val="3680"/>
              </a:lnSpc>
              <a:buFont typeface="Arial"/>
              <a:buChar char="•"/>
            </a:pPr>
            <a:r>
              <a:rPr lang="en-US" sz="2629">
                <a:solidFill>
                  <a:srgbClr val="000000"/>
                </a:solidFill>
                <a:latin typeface="Canva Sans"/>
                <a:ea typeface="Canva Sans"/>
                <a:cs typeface="Canva Sans"/>
                <a:sym typeface="Canva Sans"/>
              </a:rPr>
              <a:t>Learns polarization detection across all 22 languages</a:t>
            </a:r>
          </a:p>
          <a:p>
            <a:pPr algn="l" marL="567636" indent="-283818" lvl="1">
              <a:lnSpc>
                <a:spcPts val="3680"/>
              </a:lnSpc>
              <a:buFont typeface="Arial"/>
              <a:buChar char="•"/>
            </a:pPr>
            <a:r>
              <a:rPr lang="en-US" sz="2629">
                <a:solidFill>
                  <a:srgbClr val="000000"/>
                </a:solidFill>
                <a:latin typeface="Canva Sans"/>
                <a:ea typeface="Canva Sans"/>
                <a:cs typeface="Canva Sans"/>
                <a:sym typeface="Canva Sans"/>
              </a:rPr>
              <a:t>Fast and efficient fine-tuning</a:t>
            </a:r>
          </a:p>
          <a:p>
            <a:pPr algn="l">
              <a:lnSpc>
                <a:spcPts val="3680"/>
              </a:lnSpc>
            </a:pPr>
          </a:p>
          <a:p>
            <a:pPr algn="l" marL="567636" indent="-283818" lvl="1">
              <a:lnSpc>
                <a:spcPts val="3680"/>
              </a:lnSpc>
              <a:buAutoNum type="arabicPeriod" startAt="1"/>
            </a:pPr>
            <a:r>
              <a:rPr lang="en-US" b="true" sz="2629">
                <a:solidFill>
                  <a:srgbClr val="000000"/>
                </a:solidFill>
                <a:latin typeface="Canva Sans Bold"/>
                <a:ea typeface="Canva Sans Bold"/>
                <a:cs typeface="Canva Sans Bold"/>
                <a:sym typeface="Canva Sans Bold"/>
              </a:rPr>
              <a:t>Trained 22 Per-Language LoRA Models</a:t>
            </a:r>
          </a:p>
          <a:p>
            <a:pPr algn="l" marL="567636" indent="-283818" lvl="1">
              <a:lnSpc>
                <a:spcPts val="3680"/>
              </a:lnSpc>
              <a:buFont typeface="Arial"/>
              <a:buChar char="•"/>
            </a:pPr>
            <a:r>
              <a:rPr lang="en-US" sz="2629">
                <a:solidFill>
                  <a:srgbClr val="000000"/>
                </a:solidFill>
                <a:latin typeface="Canva Sans"/>
                <a:ea typeface="Canva Sans"/>
                <a:cs typeface="Canva Sans"/>
                <a:sym typeface="Canva Sans"/>
              </a:rPr>
              <a:t>Each language (e.g., English, Arabic, Hindi, Chinese…) gets its own LoRA adapter</a:t>
            </a:r>
          </a:p>
          <a:p>
            <a:pPr algn="l" marL="567636" indent="-283818" lvl="1">
              <a:lnSpc>
                <a:spcPts val="3680"/>
              </a:lnSpc>
              <a:buFont typeface="Arial"/>
              <a:buChar char="•"/>
            </a:pPr>
            <a:r>
              <a:rPr lang="en-US" sz="2629">
                <a:solidFill>
                  <a:srgbClr val="000000"/>
                </a:solidFill>
                <a:latin typeface="Canva Sans"/>
                <a:ea typeface="Canva Sans"/>
                <a:cs typeface="Canva Sans"/>
                <a:sym typeface="Canva Sans"/>
              </a:rPr>
              <a:t>Makes the model more specialized for that language</a:t>
            </a:r>
          </a:p>
          <a:p>
            <a:pPr algn="l" marL="567636" indent="-283818" lvl="1">
              <a:lnSpc>
                <a:spcPts val="3680"/>
              </a:lnSpc>
              <a:buFont typeface="Arial"/>
              <a:buChar char="•"/>
            </a:pPr>
            <a:r>
              <a:rPr lang="en-US" sz="2629">
                <a:solidFill>
                  <a:srgbClr val="000000"/>
                </a:solidFill>
                <a:latin typeface="Canva Sans"/>
                <a:ea typeface="Canva Sans"/>
                <a:cs typeface="Canva Sans"/>
                <a:sym typeface="Canva Sans"/>
              </a:rPr>
              <a:t>Much smaller than training 22 full models</a:t>
            </a:r>
          </a:p>
          <a:p>
            <a:pPr algn="l">
              <a:lnSpc>
                <a:spcPts val="3680"/>
              </a:lnSpc>
            </a:pPr>
          </a:p>
        </p:txBody>
      </p:sp>
    </p:spTree>
  </p:cSld>
  <p:clrMapOvr>
    <a:masterClrMapping/>
  </p:clrMapOvr>
</p:sld>
</file>

<file path=ppt/slides/slide22.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1140864" y="971550"/>
            <a:ext cx="15461473" cy="5934710"/>
          </a:xfrm>
          <a:prstGeom prst="rect">
            <a:avLst/>
          </a:prstGeom>
        </p:spPr>
        <p:txBody>
          <a:bodyPr anchor="t" rtlCol="false" tIns="0" lIns="0" bIns="0" rIns="0">
            <a:spAutoFit/>
          </a:bodyPr>
          <a:lstStyle/>
          <a:p>
            <a:pPr algn="l">
              <a:lnSpc>
                <a:spcPts val="3639"/>
              </a:lnSpc>
              <a:spcBef>
                <a:spcPct val="0"/>
              </a:spcBef>
            </a:pPr>
            <a:r>
              <a:rPr lang="en-US" b="true" sz="2599">
                <a:solidFill>
                  <a:srgbClr val="000000"/>
                </a:solidFill>
                <a:latin typeface="Canva Sans Bold"/>
                <a:ea typeface="Canva Sans Bold"/>
                <a:cs typeface="Canva Sans Bold"/>
                <a:sym typeface="Canva Sans Bold"/>
              </a:rPr>
              <a:t>Built MixLoRA — Our Advanced Model</a:t>
            </a:r>
          </a:p>
          <a:p>
            <a:pPr algn="l">
              <a:lnSpc>
                <a:spcPts val="3639"/>
              </a:lnSpc>
              <a:spcBef>
                <a:spcPct val="0"/>
              </a:spcBef>
            </a:pPr>
            <a:r>
              <a:rPr lang="en-US" sz="2599">
                <a:solidFill>
                  <a:srgbClr val="000000"/>
                </a:solidFill>
                <a:latin typeface="Canva Sans"/>
                <a:ea typeface="Canva Sans"/>
                <a:cs typeface="Canva Sans"/>
                <a:sym typeface="Canva Sans"/>
              </a:rPr>
              <a:t>A mixture-of-experts model where:</a:t>
            </a:r>
          </a:p>
          <a:p>
            <a:pPr algn="l" marL="561337" indent="-280669" lvl="1">
              <a:lnSpc>
                <a:spcPts val="3639"/>
              </a:lnSpc>
              <a:spcBef>
                <a:spcPct val="0"/>
              </a:spcBef>
              <a:buFont typeface="Arial"/>
              <a:buChar char="•"/>
            </a:pPr>
            <a:r>
              <a:rPr lang="en-US" sz="2599">
                <a:solidFill>
                  <a:srgbClr val="000000"/>
                </a:solidFill>
                <a:latin typeface="Canva Sans"/>
                <a:ea typeface="Canva Sans"/>
                <a:cs typeface="Canva Sans"/>
                <a:sym typeface="Canva Sans"/>
              </a:rPr>
              <a:t>Each “expert” is a small LoRA transform</a:t>
            </a:r>
          </a:p>
          <a:p>
            <a:pPr algn="l" marL="561337" indent="-280669" lvl="1">
              <a:lnSpc>
                <a:spcPts val="3639"/>
              </a:lnSpc>
              <a:spcBef>
                <a:spcPct val="0"/>
              </a:spcBef>
              <a:buFont typeface="Arial"/>
              <a:buChar char="•"/>
            </a:pPr>
            <a:r>
              <a:rPr lang="en-US" sz="2599">
                <a:solidFill>
                  <a:srgbClr val="000000"/>
                </a:solidFill>
                <a:latin typeface="Canva Sans"/>
                <a:ea typeface="Canva Sans"/>
                <a:cs typeface="Canva Sans"/>
                <a:sym typeface="Canva Sans"/>
              </a:rPr>
              <a:t>A router chooses which experts to use based on the language</a:t>
            </a:r>
          </a:p>
          <a:p>
            <a:pPr algn="l" marL="561337" indent="-280669" lvl="1">
              <a:lnSpc>
                <a:spcPts val="3639"/>
              </a:lnSpc>
              <a:spcBef>
                <a:spcPct val="0"/>
              </a:spcBef>
              <a:buFont typeface="Arial"/>
              <a:buChar char="•"/>
            </a:pPr>
            <a:r>
              <a:rPr lang="en-US" sz="2599">
                <a:solidFill>
                  <a:srgbClr val="000000"/>
                </a:solidFill>
                <a:latin typeface="Canva Sans"/>
                <a:ea typeface="Canva Sans"/>
                <a:cs typeface="Canva Sans"/>
                <a:sym typeface="Canva Sans"/>
              </a:rPr>
              <a:t>Helps low-resource languages borrow patterns from similar languages</a:t>
            </a:r>
          </a:p>
          <a:p>
            <a:pPr algn="l">
              <a:lnSpc>
                <a:spcPts val="3639"/>
              </a:lnSpc>
              <a:spcBef>
                <a:spcPct val="0"/>
              </a:spcBef>
            </a:pPr>
          </a:p>
          <a:p>
            <a:pPr algn="l">
              <a:lnSpc>
                <a:spcPts val="3639"/>
              </a:lnSpc>
              <a:spcBef>
                <a:spcPct val="0"/>
              </a:spcBef>
            </a:pPr>
            <a:r>
              <a:rPr lang="en-US" sz="2599">
                <a:solidFill>
                  <a:srgbClr val="000000"/>
                </a:solidFill>
                <a:latin typeface="Canva Sans"/>
                <a:ea typeface="Canva Sans"/>
                <a:cs typeface="Canva Sans"/>
                <a:sym typeface="Canva Sans"/>
              </a:rPr>
              <a:t>for example:</a:t>
            </a:r>
          </a:p>
          <a:p>
            <a:pPr algn="l" marL="561337" indent="-280669" lvl="1">
              <a:lnSpc>
                <a:spcPts val="3639"/>
              </a:lnSpc>
              <a:spcBef>
                <a:spcPct val="0"/>
              </a:spcBef>
              <a:buFont typeface="Arial"/>
              <a:buChar char="•"/>
            </a:pPr>
            <a:r>
              <a:rPr lang="en-US" sz="2599">
                <a:solidFill>
                  <a:srgbClr val="000000"/>
                </a:solidFill>
                <a:latin typeface="Canva Sans"/>
                <a:ea typeface="Canva Sans"/>
                <a:cs typeface="Canva Sans"/>
                <a:sym typeface="Canva Sans"/>
              </a:rPr>
              <a:t>Hindi might share an expert with Urdu</a:t>
            </a:r>
          </a:p>
          <a:p>
            <a:pPr algn="l" marL="561337" indent="-280669" lvl="1">
              <a:lnSpc>
                <a:spcPts val="3639"/>
              </a:lnSpc>
              <a:spcBef>
                <a:spcPct val="0"/>
              </a:spcBef>
              <a:buFont typeface="Arial"/>
              <a:buChar char="•"/>
            </a:pPr>
            <a:r>
              <a:rPr lang="en-US" sz="2599">
                <a:solidFill>
                  <a:srgbClr val="000000"/>
                </a:solidFill>
                <a:latin typeface="Canva Sans"/>
                <a:ea typeface="Canva Sans"/>
                <a:cs typeface="Canva Sans"/>
                <a:sym typeface="Canva Sans"/>
              </a:rPr>
              <a:t>Spanish might share an expert with Italian</a:t>
            </a:r>
          </a:p>
          <a:p>
            <a:pPr algn="l" marL="561337" indent="-280669" lvl="1">
              <a:lnSpc>
                <a:spcPts val="3639"/>
              </a:lnSpc>
              <a:spcBef>
                <a:spcPct val="0"/>
              </a:spcBef>
              <a:buFont typeface="Arial"/>
              <a:buChar char="•"/>
            </a:pPr>
            <a:r>
              <a:rPr lang="en-US" sz="2599">
                <a:solidFill>
                  <a:srgbClr val="000000"/>
                </a:solidFill>
                <a:latin typeface="Canva Sans"/>
                <a:ea typeface="Canva Sans"/>
                <a:cs typeface="Canva Sans"/>
                <a:sym typeface="Canva Sans"/>
              </a:rPr>
              <a:t>Cambodian might combine multiple experts</a:t>
            </a:r>
          </a:p>
          <a:p>
            <a:pPr algn="l">
              <a:lnSpc>
                <a:spcPts val="3639"/>
              </a:lnSpc>
              <a:spcBef>
                <a:spcPct val="0"/>
              </a:spcBef>
            </a:pPr>
          </a:p>
          <a:p>
            <a:pPr algn="l">
              <a:lnSpc>
                <a:spcPts val="3639"/>
              </a:lnSpc>
              <a:spcBef>
                <a:spcPct val="0"/>
              </a:spcBef>
            </a:pPr>
            <a:r>
              <a:rPr lang="en-US" sz="2599">
                <a:solidFill>
                  <a:srgbClr val="000000"/>
                </a:solidFill>
                <a:latin typeface="Canva Sans"/>
                <a:ea typeface="Canva Sans"/>
                <a:cs typeface="Canva Sans"/>
                <a:sym typeface="Canva Sans"/>
              </a:rPr>
              <a:t> So, instead of giving each language its own model, MixLoRA creates shared experts that languages can mix, improving generalization.</a:t>
            </a:r>
          </a:p>
        </p:txBody>
      </p:sp>
    </p:spTree>
  </p:cSld>
  <p:clrMapOvr>
    <a:masterClrMapping/>
  </p:clrMapOvr>
</p:sld>
</file>

<file path=ppt/slides/slide2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5373261" y="1828211"/>
            <a:ext cx="6699523" cy="6987512"/>
          </a:xfrm>
          <a:custGeom>
            <a:avLst/>
            <a:gdLst/>
            <a:ahLst/>
            <a:cxnLst/>
            <a:rect r="r" b="b" t="t" l="l"/>
            <a:pathLst>
              <a:path h="6987512" w="6699523">
                <a:moveTo>
                  <a:pt x="0" y="0"/>
                </a:moveTo>
                <a:lnTo>
                  <a:pt x="6699523" y="0"/>
                </a:lnTo>
                <a:lnTo>
                  <a:pt x="6699523" y="6987512"/>
                </a:lnTo>
                <a:lnTo>
                  <a:pt x="0" y="6987512"/>
                </a:lnTo>
                <a:lnTo>
                  <a:pt x="0" y="0"/>
                </a:lnTo>
                <a:close/>
              </a:path>
            </a:pathLst>
          </a:custGeom>
          <a:blipFill>
            <a:blip r:embed="rId2"/>
            <a:stretch>
              <a:fillRect l="0" t="0" r="0" b="0"/>
            </a:stretch>
          </a:blipFill>
        </p:spPr>
      </p:sp>
      <p:sp>
        <p:nvSpPr>
          <p:cNvPr name="TextBox 3" id="3"/>
          <p:cNvSpPr txBox="true"/>
          <p:nvPr/>
        </p:nvSpPr>
        <p:spPr>
          <a:xfrm rot="0">
            <a:off x="1156888" y="725145"/>
            <a:ext cx="3432334" cy="1341755"/>
          </a:xfrm>
          <a:prstGeom prst="rect">
            <a:avLst/>
          </a:prstGeom>
        </p:spPr>
        <p:txBody>
          <a:bodyPr anchor="t" rtlCol="false" tIns="0" lIns="0" bIns="0" rIns="0">
            <a:spAutoFit/>
          </a:bodyPr>
          <a:lstStyle/>
          <a:p>
            <a:pPr algn="l">
              <a:lnSpc>
                <a:spcPts val="7279"/>
              </a:lnSpc>
              <a:spcBef>
                <a:spcPct val="0"/>
              </a:spcBef>
            </a:pPr>
            <a:r>
              <a:rPr lang="en-US" b="true" sz="5199">
                <a:solidFill>
                  <a:srgbClr val="000000"/>
                </a:solidFill>
                <a:latin typeface="Canva Sans Bold"/>
                <a:ea typeface="Canva Sans Bold"/>
                <a:cs typeface="Canva Sans Bold"/>
                <a:sym typeface="Canva Sans Bold"/>
              </a:rPr>
              <a:t>Evaluation</a:t>
            </a:r>
          </a:p>
          <a:p>
            <a:pPr algn="l">
              <a:lnSpc>
                <a:spcPts val="3359"/>
              </a:lnSpc>
              <a:spcBef>
                <a:spcPct val="0"/>
              </a:spcBef>
            </a:pPr>
            <a:r>
              <a:rPr lang="en-US" b="true" sz="2400">
                <a:solidFill>
                  <a:srgbClr val="000000"/>
                </a:solidFill>
                <a:latin typeface="Canva Sans Bold"/>
                <a:ea typeface="Canva Sans Bold"/>
                <a:cs typeface="Canva Sans Bold"/>
                <a:sym typeface="Canva Sans Bold"/>
              </a:rPr>
              <a:t>Multilingual LoRA</a:t>
            </a:r>
          </a:p>
        </p:txBody>
      </p:sp>
    </p:spTree>
  </p:cSld>
  <p:clrMapOvr>
    <a:masterClrMapping/>
  </p:clrMapOvr>
</p:sld>
</file>

<file path=ppt/slides/slide2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3430830" y="1816131"/>
            <a:ext cx="6994690" cy="7301199"/>
          </a:xfrm>
          <a:custGeom>
            <a:avLst/>
            <a:gdLst/>
            <a:ahLst/>
            <a:cxnLst/>
            <a:rect r="r" b="b" t="t" l="l"/>
            <a:pathLst>
              <a:path h="7301199" w="6994690">
                <a:moveTo>
                  <a:pt x="0" y="0"/>
                </a:moveTo>
                <a:lnTo>
                  <a:pt x="6994690" y="0"/>
                </a:lnTo>
                <a:lnTo>
                  <a:pt x="6994690" y="7301199"/>
                </a:lnTo>
                <a:lnTo>
                  <a:pt x="0" y="7301199"/>
                </a:lnTo>
                <a:lnTo>
                  <a:pt x="0" y="0"/>
                </a:lnTo>
                <a:close/>
              </a:path>
            </a:pathLst>
          </a:custGeom>
          <a:blipFill>
            <a:blip r:embed="rId2"/>
            <a:stretch>
              <a:fillRect l="0" t="0" r="0" b="0"/>
            </a:stretch>
          </a:blipFill>
        </p:spPr>
      </p:sp>
      <p:sp>
        <p:nvSpPr>
          <p:cNvPr name="TextBox 3" id="3"/>
          <p:cNvSpPr txBox="true"/>
          <p:nvPr/>
        </p:nvSpPr>
        <p:spPr>
          <a:xfrm rot="0">
            <a:off x="892850" y="971550"/>
            <a:ext cx="3239453" cy="464820"/>
          </a:xfrm>
          <a:prstGeom prst="rect">
            <a:avLst/>
          </a:prstGeom>
        </p:spPr>
        <p:txBody>
          <a:bodyPr anchor="t" rtlCol="false" tIns="0" lIns="0" bIns="0" rIns="0">
            <a:spAutoFit/>
          </a:bodyPr>
          <a:lstStyle/>
          <a:p>
            <a:pPr algn="ctr">
              <a:lnSpc>
                <a:spcPts val="3779"/>
              </a:lnSpc>
              <a:spcBef>
                <a:spcPct val="0"/>
              </a:spcBef>
            </a:pPr>
            <a:r>
              <a:rPr lang="en-US" b="true" sz="2699">
                <a:solidFill>
                  <a:srgbClr val="000000"/>
                </a:solidFill>
                <a:latin typeface="Canva Sans Bold"/>
                <a:ea typeface="Canva Sans Bold"/>
                <a:cs typeface="Canva Sans Bold"/>
                <a:sym typeface="Canva Sans Bold"/>
              </a:rPr>
              <a:t> Per-language LoRA</a:t>
            </a:r>
          </a:p>
        </p:txBody>
      </p:sp>
    </p:spTree>
  </p:cSld>
  <p:clrMapOvr>
    <a:masterClrMapping/>
  </p:clrMapOvr>
</p:sld>
</file>

<file path=ppt/slides/slide2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4945483" y="1436370"/>
            <a:ext cx="8397035" cy="7995513"/>
          </a:xfrm>
          <a:custGeom>
            <a:avLst/>
            <a:gdLst/>
            <a:ahLst/>
            <a:cxnLst/>
            <a:rect r="r" b="b" t="t" l="l"/>
            <a:pathLst>
              <a:path h="7995513" w="8397035">
                <a:moveTo>
                  <a:pt x="0" y="0"/>
                </a:moveTo>
                <a:lnTo>
                  <a:pt x="8397034" y="0"/>
                </a:lnTo>
                <a:lnTo>
                  <a:pt x="8397034" y="7995513"/>
                </a:lnTo>
                <a:lnTo>
                  <a:pt x="0" y="7995513"/>
                </a:lnTo>
                <a:lnTo>
                  <a:pt x="0" y="0"/>
                </a:lnTo>
                <a:close/>
              </a:path>
            </a:pathLst>
          </a:custGeom>
          <a:blipFill>
            <a:blip r:embed="rId2"/>
            <a:stretch>
              <a:fillRect l="0" t="0" r="0" b="0"/>
            </a:stretch>
          </a:blipFill>
        </p:spPr>
      </p:sp>
      <p:sp>
        <p:nvSpPr>
          <p:cNvPr name="TextBox 3" id="3"/>
          <p:cNvSpPr txBox="true"/>
          <p:nvPr/>
        </p:nvSpPr>
        <p:spPr>
          <a:xfrm rot="0">
            <a:off x="1142646" y="971550"/>
            <a:ext cx="1554123" cy="464820"/>
          </a:xfrm>
          <a:prstGeom prst="rect">
            <a:avLst/>
          </a:prstGeom>
        </p:spPr>
        <p:txBody>
          <a:bodyPr anchor="t" rtlCol="false" tIns="0" lIns="0" bIns="0" rIns="0">
            <a:spAutoFit/>
          </a:bodyPr>
          <a:lstStyle/>
          <a:p>
            <a:pPr algn="ctr">
              <a:lnSpc>
                <a:spcPts val="3779"/>
              </a:lnSpc>
              <a:spcBef>
                <a:spcPct val="0"/>
              </a:spcBef>
            </a:pPr>
            <a:r>
              <a:rPr lang="en-US" b="true" sz="2699">
                <a:solidFill>
                  <a:srgbClr val="000000"/>
                </a:solidFill>
                <a:latin typeface="Canva Sans Bold"/>
                <a:ea typeface="Canva Sans Bold"/>
                <a:cs typeface="Canva Sans Bold"/>
                <a:sym typeface="Canva Sans Bold"/>
              </a:rPr>
              <a:t>Mix</a:t>
            </a:r>
            <a:r>
              <a:rPr lang="en-US" b="true" sz="2699">
                <a:solidFill>
                  <a:srgbClr val="000000"/>
                </a:solidFill>
                <a:latin typeface="Canva Sans Bold"/>
                <a:ea typeface="Canva Sans Bold"/>
                <a:cs typeface="Canva Sans Bold"/>
                <a:sym typeface="Canva Sans Bold"/>
              </a:rPr>
              <a:t>LoRA </a:t>
            </a:r>
          </a:p>
        </p:txBody>
      </p:sp>
    </p:spTree>
  </p:cSld>
  <p:clrMapOvr>
    <a:masterClrMapping/>
  </p:clrMapOvr>
</p:sld>
</file>

<file path=ppt/slides/slide26.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1561028" y="933450"/>
            <a:ext cx="15325116" cy="1412875"/>
          </a:xfrm>
          <a:prstGeom prst="rect">
            <a:avLst/>
          </a:prstGeom>
        </p:spPr>
        <p:txBody>
          <a:bodyPr anchor="t" rtlCol="false" tIns="0" lIns="0" bIns="0" rIns="0">
            <a:spAutoFit/>
          </a:bodyPr>
          <a:lstStyle/>
          <a:p>
            <a:pPr algn="l">
              <a:lnSpc>
                <a:spcPts val="7279"/>
              </a:lnSpc>
            </a:pPr>
            <a:r>
              <a:rPr lang="en-US" sz="5199" b="true">
                <a:solidFill>
                  <a:srgbClr val="000000"/>
                </a:solidFill>
                <a:latin typeface="Canva Sans Bold"/>
                <a:ea typeface="Canva Sans Bold"/>
                <a:cs typeface="Canva Sans Bold"/>
                <a:sym typeface="Canva Sans Bold"/>
              </a:rPr>
              <a:t>Conclusion</a:t>
            </a:r>
          </a:p>
          <a:p>
            <a:pPr algn="l">
              <a:lnSpc>
                <a:spcPts val="3919"/>
              </a:lnSpc>
              <a:spcBef>
                <a:spcPct val="0"/>
              </a:spcBef>
            </a:pPr>
          </a:p>
        </p:txBody>
      </p:sp>
      <p:sp>
        <p:nvSpPr>
          <p:cNvPr name="TextBox 3" id="3"/>
          <p:cNvSpPr txBox="true"/>
          <p:nvPr/>
        </p:nvSpPr>
        <p:spPr>
          <a:xfrm rot="0">
            <a:off x="1561028" y="1942287"/>
            <a:ext cx="15726943" cy="8091170"/>
          </a:xfrm>
          <a:prstGeom prst="rect">
            <a:avLst/>
          </a:prstGeom>
        </p:spPr>
        <p:txBody>
          <a:bodyPr anchor="t" rtlCol="false" tIns="0" lIns="0" bIns="0" rIns="0">
            <a:spAutoFit/>
          </a:bodyPr>
          <a:lstStyle/>
          <a:p>
            <a:pPr algn="l">
              <a:lnSpc>
                <a:spcPts val="4480"/>
              </a:lnSpc>
              <a:spcBef>
                <a:spcPct val="0"/>
              </a:spcBef>
            </a:pPr>
            <a:r>
              <a:rPr lang="en-US" b="true" sz="3200">
                <a:solidFill>
                  <a:srgbClr val="000000"/>
                </a:solidFill>
                <a:latin typeface="Canva Sans Bold"/>
                <a:ea typeface="Canva Sans Bold"/>
                <a:cs typeface="Canva Sans Bold"/>
                <a:sym typeface="Canva Sans Bold"/>
              </a:rPr>
              <a:t>Multilingual LoRA</a:t>
            </a:r>
          </a:p>
          <a:p>
            <a:pPr algn="l" marL="647702" indent="-323851" lvl="1">
              <a:lnSpc>
                <a:spcPts val="4200"/>
              </a:lnSpc>
              <a:spcBef>
                <a:spcPct val="0"/>
              </a:spcBef>
              <a:buFont typeface="Arial"/>
              <a:buChar char="•"/>
            </a:pPr>
            <a:r>
              <a:rPr lang="en-US" sz="3000">
                <a:solidFill>
                  <a:srgbClr val="000000"/>
                </a:solidFill>
                <a:latin typeface="Canva Sans"/>
                <a:ea typeface="Canva Sans"/>
                <a:cs typeface="Canva Sans"/>
                <a:sym typeface="Canva Sans"/>
              </a:rPr>
              <a:t>Best overall accuracy</a:t>
            </a:r>
          </a:p>
          <a:p>
            <a:pPr algn="l" marL="647702" indent="-323851" lvl="1">
              <a:lnSpc>
                <a:spcPts val="4200"/>
              </a:lnSpc>
              <a:spcBef>
                <a:spcPct val="0"/>
              </a:spcBef>
              <a:buFont typeface="Arial"/>
              <a:buChar char="•"/>
            </a:pPr>
            <a:r>
              <a:rPr lang="en-US" sz="3000">
                <a:solidFill>
                  <a:srgbClr val="000000"/>
                </a:solidFill>
                <a:latin typeface="Canva Sans"/>
                <a:ea typeface="Canva Sans"/>
                <a:cs typeface="Canva Sans"/>
                <a:sym typeface="Canva Sans"/>
              </a:rPr>
              <a:t>Highest performance in 16 / 22 languages</a:t>
            </a:r>
          </a:p>
          <a:p>
            <a:pPr algn="l" marL="647702" indent="-323851" lvl="1">
              <a:lnSpc>
                <a:spcPts val="4200"/>
              </a:lnSpc>
              <a:spcBef>
                <a:spcPct val="0"/>
              </a:spcBef>
              <a:buFont typeface="Arial"/>
              <a:buChar char="•"/>
            </a:pPr>
            <a:r>
              <a:rPr lang="en-US" sz="3000">
                <a:solidFill>
                  <a:srgbClr val="000000"/>
                </a:solidFill>
                <a:latin typeface="Canva Sans"/>
                <a:ea typeface="Canva Sans"/>
                <a:cs typeface="Canva Sans"/>
                <a:sym typeface="Canva Sans"/>
              </a:rPr>
              <a:t>Shared multilingual knowledge boosts generalization</a:t>
            </a:r>
          </a:p>
          <a:p>
            <a:pPr algn="l" marL="647702" indent="-323851" lvl="1">
              <a:lnSpc>
                <a:spcPts val="4200"/>
              </a:lnSpc>
              <a:spcBef>
                <a:spcPct val="0"/>
              </a:spcBef>
              <a:buFont typeface="Arial"/>
              <a:buChar char="•"/>
            </a:pPr>
            <a:r>
              <a:rPr lang="en-US" sz="3000">
                <a:solidFill>
                  <a:srgbClr val="000000"/>
                </a:solidFill>
                <a:latin typeface="Canva Sans"/>
                <a:ea typeface="Canva Sans"/>
                <a:cs typeface="Canva Sans"/>
                <a:sym typeface="Canva Sans"/>
              </a:rPr>
              <a:t>Best choice for a single global model</a:t>
            </a:r>
          </a:p>
          <a:p>
            <a:pPr algn="l">
              <a:lnSpc>
                <a:spcPts val="4480"/>
              </a:lnSpc>
              <a:spcBef>
                <a:spcPct val="0"/>
              </a:spcBef>
            </a:pPr>
          </a:p>
          <a:p>
            <a:pPr algn="l">
              <a:lnSpc>
                <a:spcPts val="4480"/>
              </a:lnSpc>
              <a:spcBef>
                <a:spcPct val="0"/>
              </a:spcBef>
            </a:pPr>
            <a:r>
              <a:rPr lang="en-US" b="true" sz="3200">
                <a:solidFill>
                  <a:srgbClr val="000000"/>
                </a:solidFill>
                <a:latin typeface="Canva Sans Bold"/>
                <a:ea typeface="Canva Sans Bold"/>
                <a:cs typeface="Canva Sans Bold"/>
                <a:sym typeface="Canva Sans Bold"/>
              </a:rPr>
              <a:t>Per-Language LoRA</a:t>
            </a:r>
          </a:p>
          <a:p>
            <a:pPr algn="l">
              <a:lnSpc>
                <a:spcPts val="4200"/>
              </a:lnSpc>
              <a:spcBef>
                <a:spcPct val="0"/>
              </a:spcBef>
            </a:pPr>
            <a:r>
              <a:rPr lang="en-US" sz="3000">
                <a:solidFill>
                  <a:srgbClr val="000000"/>
                </a:solidFill>
                <a:latin typeface="Canva Sans"/>
                <a:ea typeface="Canva Sans"/>
                <a:cs typeface="Canva Sans"/>
                <a:sym typeface="Canva Sans"/>
              </a:rPr>
              <a:t>Wins in only a few languages:</a:t>
            </a:r>
          </a:p>
          <a:p>
            <a:pPr algn="l" marL="647702" indent="-323851" lvl="1">
              <a:lnSpc>
                <a:spcPts val="4200"/>
              </a:lnSpc>
              <a:buFont typeface="Arial"/>
              <a:buChar char="•"/>
            </a:pPr>
            <a:r>
              <a:rPr lang="en-US" sz="3000">
                <a:solidFill>
                  <a:srgbClr val="000000"/>
                </a:solidFill>
                <a:latin typeface="Canva Sans"/>
                <a:ea typeface="Canva Sans"/>
                <a:cs typeface="Canva Sans"/>
                <a:sym typeface="Canva Sans"/>
              </a:rPr>
              <a:t>Hausa</a:t>
            </a:r>
          </a:p>
          <a:p>
            <a:pPr algn="l" marL="647702" indent="-323851" lvl="1">
              <a:lnSpc>
                <a:spcPts val="4200"/>
              </a:lnSpc>
              <a:buFont typeface="Arial"/>
              <a:buChar char="•"/>
            </a:pPr>
            <a:r>
              <a:rPr lang="en-US" sz="3000">
                <a:solidFill>
                  <a:srgbClr val="000000"/>
                </a:solidFill>
                <a:latin typeface="Canva Sans"/>
                <a:ea typeface="Canva Sans"/>
                <a:cs typeface="Canva Sans"/>
                <a:sym typeface="Canva Sans"/>
              </a:rPr>
              <a:t>Oriya</a:t>
            </a:r>
          </a:p>
          <a:p>
            <a:pPr algn="l" marL="647702" indent="-323851" lvl="1">
              <a:lnSpc>
                <a:spcPts val="4200"/>
              </a:lnSpc>
              <a:buFont typeface="Arial"/>
              <a:buChar char="•"/>
            </a:pPr>
            <a:r>
              <a:rPr lang="en-US" sz="3000">
                <a:solidFill>
                  <a:srgbClr val="000000"/>
                </a:solidFill>
                <a:latin typeface="Canva Sans"/>
                <a:ea typeface="Canva Sans"/>
                <a:cs typeface="Canva Sans"/>
                <a:sym typeface="Canva Sans"/>
              </a:rPr>
              <a:t>Slight improvement in German</a:t>
            </a:r>
          </a:p>
          <a:p>
            <a:pPr algn="l">
              <a:lnSpc>
                <a:spcPts val="4200"/>
              </a:lnSpc>
              <a:spcBef>
                <a:spcPct val="0"/>
              </a:spcBef>
            </a:pPr>
            <a:r>
              <a:rPr lang="en-US" sz="3000">
                <a:solidFill>
                  <a:srgbClr val="000000"/>
                </a:solidFill>
                <a:latin typeface="Canva Sans"/>
                <a:ea typeface="Canva Sans"/>
                <a:cs typeface="Canva Sans"/>
                <a:sym typeface="Canva Sans"/>
              </a:rPr>
              <a:t>Works well only when the language has enough training data</a:t>
            </a:r>
          </a:p>
          <a:p>
            <a:pPr algn="l">
              <a:lnSpc>
                <a:spcPts val="4200"/>
              </a:lnSpc>
              <a:spcBef>
                <a:spcPct val="0"/>
              </a:spcBef>
            </a:pPr>
          </a:p>
          <a:p>
            <a:pPr algn="l">
              <a:lnSpc>
                <a:spcPts val="4200"/>
              </a:lnSpc>
              <a:spcBef>
                <a:spcPct val="0"/>
              </a:spcBef>
            </a:pPr>
          </a:p>
          <a:p>
            <a:pPr algn="l">
              <a:lnSpc>
                <a:spcPts val="4480"/>
              </a:lnSpc>
              <a:spcBef>
                <a:spcPct val="0"/>
              </a:spcBef>
            </a:pPr>
          </a:p>
        </p:txBody>
      </p:sp>
    </p:spTree>
  </p:cSld>
  <p:clrMapOvr>
    <a:masterClrMapping/>
  </p:clrMapOvr>
</p:sld>
</file>

<file path=ppt/slides/slide27.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1028700" y="971550"/>
            <a:ext cx="14885795" cy="4274185"/>
          </a:xfrm>
          <a:prstGeom prst="rect">
            <a:avLst/>
          </a:prstGeom>
        </p:spPr>
        <p:txBody>
          <a:bodyPr anchor="t" rtlCol="false" tIns="0" lIns="0" bIns="0" rIns="0">
            <a:spAutoFit/>
          </a:bodyPr>
          <a:lstStyle/>
          <a:p>
            <a:pPr algn="l">
              <a:lnSpc>
                <a:spcPts val="4480"/>
              </a:lnSpc>
              <a:spcBef>
                <a:spcPct val="0"/>
              </a:spcBef>
            </a:pPr>
            <a:r>
              <a:rPr lang="en-US" b="true" sz="3200">
                <a:solidFill>
                  <a:srgbClr val="000000"/>
                </a:solidFill>
                <a:latin typeface="Canva Sans Bold"/>
                <a:ea typeface="Canva Sans Bold"/>
                <a:cs typeface="Canva Sans Bold"/>
                <a:sym typeface="Canva Sans Bold"/>
              </a:rPr>
              <a:t>MixLoRA</a:t>
            </a:r>
          </a:p>
          <a:p>
            <a:pPr algn="l" marL="647702" indent="-323851" lvl="1">
              <a:lnSpc>
                <a:spcPts val="4200"/>
              </a:lnSpc>
              <a:spcBef>
                <a:spcPct val="0"/>
              </a:spcBef>
              <a:buFont typeface="Arial"/>
              <a:buChar char="•"/>
            </a:pPr>
            <a:r>
              <a:rPr lang="en-US" sz="3000">
                <a:solidFill>
                  <a:srgbClr val="000000"/>
                </a:solidFill>
                <a:latin typeface="Canva Sans"/>
                <a:ea typeface="Canva Sans"/>
                <a:cs typeface="Canva Sans"/>
                <a:sym typeface="Canva Sans"/>
              </a:rPr>
              <a:t>Improves some low-resource languages, e.g., Amharic</a:t>
            </a:r>
          </a:p>
          <a:p>
            <a:pPr algn="l" marL="647702" indent="-323851" lvl="1">
              <a:lnSpc>
                <a:spcPts val="4200"/>
              </a:lnSpc>
              <a:spcBef>
                <a:spcPct val="0"/>
              </a:spcBef>
              <a:buFont typeface="Arial"/>
              <a:buChar char="•"/>
            </a:pPr>
            <a:r>
              <a:rPr lang="en-US" sz="3000">
                <a:solidFill>
                  <a:srgbClr val="000000"/>
                </a:solidFill>
                <a:latin typeface="Canva Sans"/>
                <a:ea typeface="Canva Sans"/>
                <a:cs typeface="Canva Sans"/>
                <a:sym typeface="Canva Sans"/>
              </a:rPr>
              <a:t>Ties in Khmer and Russian</a:t>
            </a:r>
          </a:p>
          <a:p>
            <a:pPr algn="l" marL="647702" indent="-323851" lvl="1">
              <a:lnSpc>
                <a:spcPts val="4200"/>
              </a:lnSpc>
              <a:spcBef>
                <a:spcPct val="0"/>
              </a:spcBef>
              <a:buFont typeface="Arial"/>
              <a:buChar char="•"/>
            </a:pPr>
            <a:r>
              <a:rPr lang="en-US" sz="3000">
                <a:solidFill>
                  <a:srgbClr val="000000"/>
                </a:solidFill>
                <a:latin typeface="Canva Sans"/>
                <a:ea typeface="Canva Sans"/>
                <a:cs typeface="Canva Sans"/>
                <a:sym typeface="Canva Sans"/>
              </a:rPr>
              <a:t>Underperforms when:</a:t>
            </a:r>
          </a:p>
          <a:p>
            <a:pPr algn="l" marL="647702" indent="-323851" lvl="1">
              <a:lnSpc>
                <a:spcPts val="4200"/>
              </a:lnSpc>
              <a:spcBef>
                <a:spcPct val="0"/>
              </a:spcBef>
              <a:buFont typeface="Arial"/>
              <a:buChar char="•"/>
            </a:pPr>
            <a:r>
              <a:rPr lang="en-US" sz="3000">
                <a:solidFill>
                  <a:srgbClr val="000000"/>
                </a:solidFill>
                <a:latin typeface="Canva Sans"/>
                <a:ea typeface="Canva Sans"/>
                <a:cs typeface="Canva Sans"/>
                <a:sym typeface="Canva Sans"/>
              </a:rPr>
              <a:t>Router selects wrong experts</a:t>
            </a:r>
          </a:p>
          <a:p>
            <a:pPr algn="l" marL="647702" indent="-323851" lvl="1">
              <a:lnSpc>
                <a:spcPts val="4200"/>
              </a:lnSpc>
              <a:spcBef>
                <a:spcPct val="0"/>
              </a:spcBef>
              <a:buFont typeface="Arial"/>
              <a:buChar char="•"/>
            </a:pPr>
            <a:r>
              <a:rPr lang="en-US" sz="3000">
                <a:solidFill>
                  <a:srgbClr val="000000"/>
                </a:solidFill>
                <a:latin typeface="Canva Sans"/>
                <a:ea typeface="Canva Sans"/>
                <a:cs typeface="Canva Sans"/>
                <a:sym typeface="Canva Sans"/>
              </a:rPr>
              <a:t>Experts are not sufficiently specialized</a:t>
            </a:r>
          </a:p>
          <a:p>
            <a:pPr algn="l" marL="647702" indent="-323851" lvl="1">
              <a:lnSpc>
                <a:spcPts val="4200"/>
              </a:lnSpc>
              <a:spcBef>
                <a:spcPct val="0"/>
              </a:spcBef>
              <a:buFont typeface="Arial"/>
              <a:buChar char="•"/>
            </a:pPr>
            <a:r>
              <a:rPr lang="en-US" sz="3000">
                <a:solidFill>
                  <a:srgbClr val="000000"/>
                </a:solidFill>
                <a:latin typeface="Canva Sans"/>
                <a:ea typeface="Canva Sans"/>
                <a:cs typeface="Canva Sans"/>
                <a:sym typeface="Canva Sans"/>
              </a:rPr>
              <a:t>Better for languages needing shared but flexible representation</a:t>
            </a:r>
          </a:p>
          <a:p>
            <a:pPr algn="l">
              <a:lnSpc>
                <a:spcPts val="4200"/>
              </a:lnSpc>
              <a:spcBef>
                <a:spcPct val="0"/>
              </a:spcBef>
            </a:pPr>
          </a:p>
        </p:txBody>
      </p:sp>
      <p:sp>
        <p:nvSpPr>
          <p:cNvPr name="TextBox 3" id="3"/>
          <p:cNvSpPr txBox="true"/>
          <p:nvPr/>
        </p:nvSpPr>
        <p:spPr>
          <a:xfrm rot="0">
            <a:off x="1028700" y="5330807"/>
            <a:ext cx="14885795" cy="2114550"/>
          </a:xfrm>
          <a:prstGeom prst="rect">
            <a:avLst/>
          </a:prstGeom>
        </p:spPr>
        <p:txBody>
          <a:bodyPr anchor="t" rtlCol="false" tIns="0" lIns="0" bIns="0" rIns="0">
            <a:spAutoFit/>
          </a:bodyPr>
          <a:lstStyle/>
          <a:p>
            <a:pPr algn="l">
              <a:lnSpc>
                <a:spcPts val="4200"/>
              </a:lnSpc>
              <a:spcBef>
                <a:spcPct val="0"/>
              </a:spcBef>
            </a:pPr>
            <a:r>
              <a:rPr lang="en-US" sz="3000">
                <a:solidFill>
                  <a:srgbClr val="000000"/>
                </a:solidFill>
                <a:latin typeface="Canva Sans"/>
                <a:ea typeface="Canva Sans"/>
                <a:cs typeface="Canva Sans"/>
                <a:sym typeface="Canva Sans"/>
              </a:rPr>
              <a:t>Alth</a:t>
            </a:r>
            <a:r>
              <a:rPr lang="en-US" sz="3000">
                <a:solidFill>
                  <a:srgbClr val="000000"/>
                </a:solidFill>
                <a:latin typeface="Canva Sans"/>
                <a:ea typeface="Canva Sans"/>
                <a:cs typeface="Canva Sans"/>
                <a:sym typeface="Canva Sans"/>
              </a:rPr>
              <a:t>ough i experimented with per-language and MixLoRA models, my results show that the Multilingual LoRA model provides the best overall performance across all 22 languages, making it the strongest and most reliable choice for SemEval Task 9.</a:t>
            </a:r>
          </a:p>
        </p:txBody>
      </p:sp>
    </p:spTree>
  </p:cSld>
  <p:clrMapOvr>
    <a:masterClrMapping/>
  </p:clrMapOvr>
</p:sld>
</file>

<file path=ppt/slides/slide2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4033128" y="1102763"/>
            <a:ext cx="9007333" cy="7659421"/>
          </a:xfrm>
          <a:custGeom>
            <a:avLst/>
            <a:gdLst/>
            <a:ahLst/>
            <a:cxnLst/>
            <a:rect r="r" b="b" t="t" l="l"/>
            <a:pathLst>
              <a:path h="7659421" w="9007333">
                <a:moveTo>
                  <a:pt x="0" y="0"/>
                </a:moveTo>
                <a:lnTo>
                  <a:pt x="9007333" y="0"/>
                </a:lnTo>
                <a:lnTo>
                  <a:pt x="9007333" y="7659421"/>
                </a:lnTo>
                <a:lnTo>
                  <a:pt x="0" y="7659421"/>
                </a:lnTo>
                <a:lnTo>
                  <a:pt x="0" y="0"/>
                </a:lnTo>
                <a:close/>
              </a:path>
            </a:pathLst>
          </a:custGeom>
          <a:blipFill>
            <a:blip r:embed="rId2"/>
            <a:stretch>
              <a:fillRect l="0" t="0" r="0" b="0"/>
            </a:stretch>
          </a:blipFill>
        </p:spPr>
      </p:sp>
    </p:spTree>
  </p:cSld>
  <p:clrMapOvr>
    <a:masterClrMapping/>
  </p:clrMapOvr>
</p:sld>
</file>

<file path=ppt/slides/slide29.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643900" y="933450"/>
            <a:ext cx="3624337" cy="887095"/>
          </a:xfrm>
          <a:prstGeom prst="rect">
            <a:avLst/>
          </a:prstGeom>
        </p:spPr>
        <p:txBody>
          <a:bodyPr anchor="t" rtlCol="false" tIns="0" lIns="0" bIns="0" rIns="0">
            <a:spAutoFit/>
          </a:bodyPr>
          <a:lstStyle/>
          <a:p>
            <a:pPr algn="ctr">
              <a:lnSpc>
                <a:spcPts val="7279"/>
              </a:lnSpc>
            </a:pPr>
            <a:r>
              <a:rPr lang="en-US" sz="5199" b="true">
                <a:solidFill>
                  <a:srgbClr val="000000"/>
                </a:solidFill>
                <a:latin typeface="Canva Sans Bold"/>
                <a:ea typeface="Canva Sans Bold"/>
                <a:cs typeface="Canva Sans Bold"/>
                <a:sym typeface="Canva Sans Bold"/>
              </a:rPr>
              <a:t>Conclusion</a:t>
            </a:r>
          </a:p>
        </p:txBody>
      </p:sp>
      <p:sp>
        <p:nvSpPr>
          <p:cNvPr name="TextBox 3" id="3"/>
          <p:cNvSpPr txBox="true"/>
          <p:nvPr/>
        </p:nvSpPr>
        <p:spPr>
          <a:xfrm rot="0">
            <a:off x="321950" y="2125255"/>
            <a:ext cx="17171450" cy="4500245"/>
          </a:xfrm>
          <a:prstGeom prst="rect">
            <a:avLst/>
          </a:prstGeom>
        </p:spPr>
        <p:txBody>
          <a:bodyPr anchor="t" rtlCol="false" tIns="0" lIns="0" bIns="0" rIns="0">
            <a:spAutoFit/>
          </a:bodyPr>
          <a:lstStyle/>
          <a:p>
            <a:pPr algn="l">
              <a:lnSpc>
                <a:spcPts val="4480"/>
              </a:lnSpc>
            </a:pPr>
          </a:p>
          <a:p>
            <a:pPr algn="just">
              <a:lnSpc>
                <a:spcPts val="4480"/>
              </a:lnSpc>
            </a:pPr>
            <a:r>
              <a:rPr lang="en-US" sz="3200">
                <a:solidFill>
                  <a:srgbClr val="000000"/>
                </a:solidFill>
                <a:latin typeface="Times New Roman"/>
                <a:ea typeface="Times New Roman"/>
                <a:cs typeface="Times New Roman"/>
                <a:sym typeface="Times New Roman"/>
              </a:rPr>
              <a:t>Multilingual LoRA delivered the strongest overall results across most of the 22 languages, making it the most reliable single model. Per-Language LoRA helped a few specific languages but was inconsistent where data was limited. MixLoRA showed potential for some low-resource languages but was unstable due to routing issues. mT5 performed well on high-resource languages but showed variable generalization. Overall, Multilingual LoRA remains the best-performing and most stable approach among the remaining models.</a:t>
            </a:r>
          </a:p>
          <a:p>
            <a:pPr algn="l">
              <a:lnSpc>
                <a:spcPts val="4480"/>
              </a:lnSpc>
            </a:pPr>
          </a:p>
        </p:txBody>
      </p:sp>
    </p:spTree>
  </p:cSld>
  <p:clrMapOvr>
    <a:masterClrMapping/>
  </p:clrMapOvr>
</p:sld>
</file>

<file path=ppt/slides/slide30.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0" y="1424971"/>
            <a:ext cx="18064531" cy="6957029"/>
          </a:xfrm>
          <a:prstGeom prst="rect">
            <a:avLst/>
          </a:prstGeom>
        </p:spPr>
        <p:txBody>
          <a:bodyPr anchor="t" rtlCol="false" tIns="0" lIns="0" bIns="0" rIns="0">
            <a:spAutoFit/>
          </a:bodyPr>
          <a:lstStyle/>
          <a:p>
            <a:pPr algn="ctr">
              <a:lnSpc>
                <a:spcPts val="5255"/>
              </a:lnSpc>
            </a:pPr>
            <a:r>
              <a:rPr lang="en-US" sz="3753">
                <a:solidFill>
                  <a:srgbClr val="000000"/>
                </a:solidFill>
                <a:latin typeface="Canva Sans"/>
                <a:ea typeface="Canva Sans"/>
                <a:cs typeface="Canva Sans"/>
                <a:sym typeface="Canva Sans"/>
              </a:rPr>
              <a:t>Future work</a:t>
            </a:r>
          </a:p>
          <a:p>
            <a:pPr algn="ctr">
              <a:lnSpc>
                <a:spcPts val="5255"/>
              </a:lnSpc>
            </a:pPr>
          </a:p>
          <a:p>
            <a:pPr algn="just" marL="575820" indent="-287910" lvl="1">
              <a:lnSpc>
                <a:spcPts val="3733"/>
              </a:lnSpc>
              <a:buFont typeface="Arial"/>
              <a:buChar char="•"/>
            </a:pPr>
            <a:r>
              <a:rPr lang="en-US" sz="2667">
                <a:solidFill>
                  <a:srgbClr val="000000"/>
                </a:solidFill>
                <a:latin typeface="Canva Sans"/>
                <a:ea typeface="Canva Sans"/>
                <a:cs typeface="Canva Sans"/>
                <a:sym typeface="Canva Sans"/>
              </a:rPr>
              <a:t>Tune decision thresholds per language to fix over-prediction issues (especially in Spanish and Nepali) and improve Macro-F1 without retraining.</a:t>
            </a:r>
          </a:p>
          <a:p>
            <a:pPr algn="just" marL="575820" indent="-287910" lvl="1">
              <a:lnSpc>
                <a:spcPts val="3733"/>
              </a:lnSpc>
              <a:buFont typeface="Arial"/>
              <a:buChar char="•"/>
            </a:pPr>
            <a:r>
              <a:rPr lang="en-US" sz="2667">
                <a:solidFill>
                  <a:srgbClr val="000000"/>
                </a:solidFill>
                <a:latin typeface="Canva Sans"/>
                <a:ea typeface="Canva Sans"/>
                <a:cs typeface="Canva Sans"/>
                <a:sym typeface="Canva Sans"/>
              </a:rPr>
              <a:t>Add language-specific fine-tuning for low-resource languages to reduce noise and improve precision.</a:t>
            </a:r>
          </a:p>
          <a:p>
            <a:pPr algn="just" marL="575820" indent="-287910" lvl="1">
              <a:lnSpc>
                <a:spcPts val="3733"/>
              </a:lnSpc>
              <a:buFont typeface="Arial"/>
              <a:buChar char="•"/>
            </a:pPr>
            <a:r>
              <a:rPr lang="en-US" sz="2667">
                <a:solidFill>
                  <a:srgbClr val="000000"/>
                </a:solidFill>
                <a:latin typeface="Canva Sans"/>
                <a:ea typeface="Canva Sans"/>
                <a:cs typeface="Canva Sans"/>
                <a:sym typeface="Canva Sans"/>
              </a:rPr>
              <a:t>Experiment with mT5 + LoRA to make training faster and more efficient while keeping strong multilingual performance.</a:t>
            </a:r>
          </a:p>
          <a:p>
            <a:pPr algn="just" marL="575820" indent="-287910" lvl="1">
              <a:lnSpc>
                <a:spcPts val="3733"/>
              </a:lnSpc>
              <a:buFont typeface="Arial"/>
              <a:buChar char="•"/>
            </a:pPr>
            <a:r>
              <a:rPr lang="en-US" sz="2667">
                <a:solidFill>
                  <a:srgbClr val="000000"/>
                </a:solidFill>
                <a:latin typeface="Canva Sans"/>
                <a:ea typeface="Canva Sans"/>
                <a:cs typeface="Canva Sans"/>
                <a:sym typeface="Canva Sans"/>
              </a:rPr>
              <a:t>Increase training data or use data augmentation (back-translation, paraphrasing) to support low-resource languages.</a:t>
            </a:r>
          </a:p>
          <a:p>
            <a:pPr algn="just" marL="575820" indent="-287910" lvl="1">
              <a:lnSpc>
                <a:spcPts val="3733"/>
              </a:lnSpc>
              <a:buFont typeface="Arial"/>
              <a:buChar char="•"/>
            </a:pPr>
            <a:r>
              <a:rPr lang="en-US" sz="2667">
                <a:solidFill>
                  <a:srgbClr val="000000"/>
                </a:solidFill>
                <a:latin typeface="Canva Sans"/>
                <a:ea typeface="Canva Sans"/>
                <a:cs typeface="Canva Sans"/>
                <a:sym typeface="Canva Sans"/>
              </a:rPr>
              <a:t>Analyze model errors to understand patterns in false positives and false negatives, especially in noisy social-media text.</a:t>
            </a:r>
          </a:p>
          <a:p>
            <a:pPr algn="just" marL="575820" indent="-287910" lvl="1">
              <a:lnSpc>
                <a:spcPts val="3733"/>
              </a:lnSpc>
              <a:buFont typeface="Arial"/>
              <a:buChar char="•"/>
            </a:pPr>
            <a:r>
              <a:rPr lang="en-US" sz="2667">
                <a:solidFill>
                  <a:srgbClr val="000000"/>
                </a:solidFill>
                <a:latin typeface="Canva Sans"/>
                <a:ea typeface="Canva Sans"/>
                <a:cs typeface="Canva Sans"/>
                <a:sym typeface="Canva Sans"/>
              </a:rPr>
              <a:t>Try larger T5 variants (mT5-base or mT5-large) if compute allows, to test improvements in long-range contextual understanding.</a:t>
            </a:r>
          </a:p>
          <a:p>
            <a:pPr algn="l">
              <a:lnSpc>
                <a:spcPts val="3733"/>
              </a:lnSpc>
              <a:spcBef>
                <a:spcPct val="0"/>
              </a:spcBef>
            </a:p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DAG6nPf4REE</dc:identifier>
  <dcterms:modified xsi:type="dcterms:W3CDTF">2011-08-01T06:04:30Z</dcterms:modified>
  <cp:revision>1</cp:revision>
  <dc:title>SEM EVAL TASK (</dc:title>
</cp:coreProperties>
</file>